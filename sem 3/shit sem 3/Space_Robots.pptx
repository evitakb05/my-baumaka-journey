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8" r:id="rId11"/>
    <p:sldId id="264" r:id="rId12"/>
    <p:sldId id="265" r:id="rId13"/>
    <p:sldId id="267" r:id="rId14"/>
  </p:sldIdLst>
  <p:sldSz cx="14630400" cy="8229600"/>
  <p:notesSz cx="8229600" cy="146304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erriweather" panose="020B0604020202020204" charset="-52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11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28418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Robots in Space: A Journey of Exploration and Discovery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4312444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1D64B-D450-405A-8E3C-9AE66989C828}"/>
              </a:ext>
            </a:extLst>
          </p:cNvPr>
          <p:cNvSpPr txBox="1"/>
          <p:nvPr/>
        </p:nvSpPr>
        <p:spPr>
          <a:xfrm>
            <a:off x="11465168" y="6618767"/>
            <a:ext cx="28125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By IU5-32B Students: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Podgornova</a:t>
            </a:r>
            <a:r>
              <a:rPr lang="en-US" sz="2400" dirty="0">
                <a:solidFill>
                  <a:schemeClr val="bg1"/>
                </a:solidFill>
              </a:rPr>
              <a:t> Karina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Kudabaeva</a:t>
            </a:r>
            <a:r>
              <a:rPr lang="en-US" sz="2400" dirty="0">
                <a:solidFill>
                  <a:schemeClr val="bg1"/>
                </a:solidFill>
              </a:rPr>
              <a:t> Evita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523EB-1A64-41BD-8DED-7A653EE2E7DA}"/>
              </a:ext>
            </a:extLst>
          </p:cNvPr>
          <p:cNvSpPr txBox="1"/>
          <p:nvPr/>
        </p:nvSpPr>
        <p:spPr>
          <a:xfrm>
            <a:off x="230374" y="-20604"/>
            <a:ext cx="91757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Contents of the presentation</a:t>
            </a:r>
            <a:endParaRPr lang="ru-RU" sz="6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C7BB0-7D90-42F4-8AA6-72592E45241D}"/>
              </a:ext>
            </a:extLst>
          </p:cNvPr>
          <p:cNvSpPr txBox="1"/>
          <p:nvPr/>
        </p:nvSpPr>
        <p:spPr>
          <a:xfrm>
            <a:off x="564482" y="1278535"/>
            <a:ext cx="6074420" cy="6788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Introduction to Space Robotics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History and First Space Robots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Working Mechanisms and Structure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Types of Space Robots with Examples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Development and Comparison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Milestones and Contributions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Future Development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00"/>
              </a:lnSpc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Thoughts and Opinions</a:t>
            </a:r>
          </a:p>
          <a:p>
            <a:pPr>
              <a:lnSpc>
                <a:spcPts val="29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ts val="2900"/>
              </a:lnSpc>
            </a:pPr>
            <a:r>
              <a:rPr lang="en-US" sz="2800" dirty="0">
                <a:solidFill>
                  <a:schemeClr val="bg1"/>
                </a:solidFill>
              </a:rPr>
              <a:t>-     Conclusion</a:t>
            </a:r>
          </a:p>
          <a:p>
            <a:pPr>
              <a:lnSpc>
                <a:spcPts val="2900"/>
              </a:lnSpc>
            </a:pP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3DCAC3F-E858-4576-90DC-6248E9C45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825" y="1638587"/>
            <a:ext cx="7250047" cy="5430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839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619" y="173518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Defining Space Robotics</a:t>
            </a:r>
            <a:endParaRPr lang="en-US" sz="4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E8FEC-17D9-4CBD-A586-923B93776FA6}"/>
              </a:ext>
            </a:extLst>
          </p:cNvPr>
          <p:cNvSpPr txBox="1"/>
          <p:nvPr/>
        </p:nvSpPr>
        <p:spPr>
          <a:xfrm>
            <a:off x="198374" y="1441939"/>
            <a:ext cx="518746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>
                <a:solidFill>
                  <a:schemeClr val="bg1"/>
                </a:solidFill>
              </a:rPr>
              <a:t>A space robot </a:t>
            </a:r>
            <a:r>
              <a:rPr lang="en-US" sz="2800" b="1" dirty="0">
                <a:solidFill>
                  <a:schemeClr val="bg1"/>
                </a:solidFill>
              </a:rPr>
              <a:t>is a robotic system designed to operate in the vacuum, extreme temperatures, and radiation-filled environment of outer space.</a:t>
            </a:r>
            <a:r>
              <a:rPr lang="en-US" sz="2800" dirty="0">
                <a:solidFill>
                  <a:schemeClr val="bg1"/>
                </a:solidFill>
              </a:rPr>
              <a:t> 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These machines are our mechanical proxies, performing tasks that are too dangerous, difficult, or repetitive for human astronauts, extending our reach and knowledge of the cosmos.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A3B81A3-25DD-4F18-8DF1-60D192C2B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96" y="1236116"/>
            <a:ext cx="8829947" cy="637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4277" y="63611"/>
            <a:ext cx="9429337" cy="206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Early Attempts at Space Robotics:</a:t>
            </a:r>
            <a:endParaRPr lang="en-US" sz="4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E0C35B-B3C1-4362-8FAA-A61BEA7F860B}"/>
              </a:ext>
            </a:extLst>
          </p:cNvPr>
          <p:cNvSpPr txBox="1"/>
          <p:nvPr/>
        </p:nvSpPr>
        <p:spPr>
          <a:xfrm>
            <a:off x="9826463" y="310918"/>
            <a:ext cx="464966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Early Mechanical Aids (1950s-1960s):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</a:t>
            </a:r>
            <a:r>
              <a:rPr lang="en-US" sz="2400" b="1" dirty="0">
                <a:solidFill>
                  <a:schemeClr val="bg1"/>
                </a:solidFill>
              </a:rPr>
              <a:t>Soviet Sputnik 1 (1957)</a:t>
            </a:r>
            <a:r>
              <a:rPr lang="en-US" sz="2400" dirty="0">
                <a:solidFill>
                  <a:schemeClr val="bg1"/>
                </a:solidFill>
              </a:rPr>
              <a:t> used a basic mechanical system to deploy its antennas.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The First True Space Robot: Lunokhod 1 (1970):</a:t>
            </a:r>
            <a:r>
              <a:rPr lang="en-US" sz="2400" dirty="0">
                <a:solidFill>
                  <a:schemeClr val="bg1"/>
                </a:solidFill>
              </a:rPr>
              <a:t> 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 </a:t>
            </a:r>
            <a:r>
              <a:rPr lang="en-US" sz="2400" b="1" dirty="0">
                <a:solidFill>
                  <a:schemeClr val="bg1"/>
                </a:solidFill>
              </a:rPr>
              <a:t>Soviet Union</a:t>
            </a:r>
            <a:r>
              <a:rPr lang="en-US" sz="2400" dirty="0">
                <a:solidFill>
                  <a:schemeClr val="bg1"/>
                </a:solidFill>
              </a:rPr>
              <a:t> launched </a:t>
            </a:r>
            <a:r>
              <a:rPr lang="en-US" sz="2400" b="1" dirty="0">
                <a:solidFill>
                  <a:schemeClr val="bg1"/>
                </a:solidFill>
              </a:rPr>
              <a:t>Lunokhod 1</a:t>
            </a:r>
            <a:r>
              <a:rPr lang="en-US" sz="2400" dirty="0">
                <a:solidFill>
                  <a:schemeClr val="bg1"/>
                </a:solidFill>
              </a:rPr>
              <a:t> on </a:t>
            </a:r>
            <a:r>
              <a:rPr lang="en-US" sz="2400" b="1" dirty="0">
                <a:solidFill>
                  <a:schemeClr val="bg1"/>
                </a:solidFill>
              </a:rPr>
              <a:t>November 17, 1970</a:t>
            </a:r>
            <a:r>
              <a:rPr lang="en-US" sz="2400" dirty="0">
                <a:solidFill>
                  <a:schemeClr val="bg1"/>
                </a:solidFill>
              </a:rPr>
              <a:t>, aboard the </a:t>
            </a:r>
            <a:r>
              <a:rPr lang="en-US" sz="2400" b="1" dirty="0">
                <a:solidFill>
                  <a:schemeClr val="bg1"/>
                </a:solidFill>
              </a:rPr>
              <a:t>Luna 17</a:t>
            </a:r>
            <a:r>
              <a:rPr lang="en-US" sz="2400" dirty="0">
                <a:solidFill>
                  <a:schemeClr val="bg1"/>
                </a:solidFill>
              </a:rPr>
              <a:t> spacecraft. It landed in the </a:t>
            </a:r>
            <a:r>
              <a:rPr lang="en-US" sz="2400" b="1" dirty="0">
                <a:solidFill>
                  <a:schemeClr val="bg1"/>
                </a:solidFill>
              </a:rPr>
              <a:t>Mare </a:t>
            </a:r>
            <a:r>
              <a:rPr lang="en-US" sz="2400" b="1" dirty="0" err="1">
                <a:solidFill>
                  <a:schemeClr val="bg1"/>
                </a:solidFill>
              </a:rPr>
              <a:t>Imbrium</a:t>
            </a:r>
            <a:r>
              <a:rPr lang="en-US" sz="2400" dirty="0">
                <a:solidFill>
                  <a:schemeClr val="bg1"/>
                </a:solidFill>
              </a:rPr>
              <a:t> region of the Moon. 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Early Robotic Arms (1980s):</a:t>
            </a:r>
            <a:r>
              <a:rPr lang="en-US" sz="2400" dirty="0">
                <a:solidFill>
                  <a:schemeClr val="bg1"/>
                </a:solidFill>
              </a:rPr>
              <a:t> 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 </a:t>
            </a:r>
            <a:r>
              <a:rPr lang="en-US" sz="2400" b="1" dirty="0">
                <a:solidFill>
                  <a:schemeClr val="bg1"/>
                </a:solidFill>
              </a:rPr>
              <a:t>Space Shuttle program</a:t>
            </a:r>
            <a:r>
              <a:rPr lang="en-US" sz="2400" dirty="0">
                <a:solidFill>
                  <a:schemeClr val="bg1"/>
                </a:solidFill>
              </a:rPr>
              <a:t> saw the introduction of robotic arms like the </a:t>
            </a:r>
            <a:r>
              <a:rPr lang="en-US" sz="2400" b="1" dirty="0">
                <a:solidFill>
                  <a:schemeClr val="bg1"/>
                </a:solidFill>
              </a:rPr>
              <a:t>Remote Manipulator System (RMS)</a:t>
            </a:r>
            <a:r>
              <a:rPr lang="en-US" sz="2400" dirty="0">
                <a:solidFill>
                  <a:schemeClr val="bg1"/>
                </a:solidFill>
              </a:rPr>
              <a:t>, also known as the </a:t>
            </a:r>
            <a:r>
              <a:rPr lang="en-US" sz="2400" dirty="0" err="1">
                <a:solidFill>
                  <a:schemeClr val="bg1"/>
                </a:solidFill>
              </a:rPr>
              <a:t>Canadarm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83DFF06A-AA3C-4594-8FEC-D7FA8ACDA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044" y="4467823"/>
            <a:ext cx="4617788" cy="361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5DD6081-BF10-42B4-92EE-AE1C6A929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46" y="784214"/>
            <a:ext cx="4589999" cy="368360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A459F5B-DDE2-49EE-98CA-424F63BC0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001" y="784214"/>
            <a:ext cx="4626613" cy="3683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924" y="85537"/>
            <a:ext cx="13512641" cy="997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900"/>
              </a:lnSpc>
              <a:buNone/>
            </a:pPr>
            <a:r>
              <a:rPr lang="en-US" sz="3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 and Working Mechanisms</a:t>
            </a:r>
            <a:endParaRPr lang="en-US" sz="3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7E98D-DC48-4E94-8ACD-023027D7340D}"/>
              </a:ext>
            </a:extLst>
          </p:cNvPr>
          <p:cNvSpPr txBox="1"/>
          <p:nvPr/>
        </p:nvSpPr>
        <p:spPr>
          <a:xfrm>
            <a:off x="1419105" y="827196"/>
            <a:ext cx="5784103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Locomotion: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This varies depending on the robot's purpose.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Manipulators: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Robotic arms and grippers allow robots to interact with their environment, handle tools, and collect samples.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Power Source:</a:t>
            </a:r>
          </a:p>
          <a:p>
            <a:r>
              <a:rPr lang="en-US" sz="2000" dirty="0">
                <a:solidFill>
                  <a:schemeClr val="bg1"/>
                </a:solidFill>
              </a:rPr>
              <a:t> Solar panels are common for missions near the Sun.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Sensors: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Cameras, spectrometers, radiation detectors, and other instruments gather data about the environment.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Communication System: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Antennas and transponders allow robots to communicate with Earth or other spacecraft.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Control System: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Onboard computers manage the robot's operations, either autonomously or through remote control.</a:t>
            </a:r>
          </a:p>
          <a:p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76DA97C2-B8F1-4BCE-9B09-6E3F86E829EB}"/>
              </a:ext>
            </a:extLst>
          </p:cNvPr>
          <p:cNvSpPr/>
          <p:nvPr/>
        </p:nvSpPr>
        <p:spPr>
          <a:xfrm>
            <a:off x="851295" y="789371"/>
            <a:ext cx="45719" cy="727111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CF8E8C29-DDAA-40A1-912F-384DF2665BF3}"/>
              </a:ext>
            </a:extLst>
          </p:cNvPr>
          <p:cNvSpPr/>
          <p:nvPr/>
        </p:nvSpPr>
        <p:spPr>
          <a:xfrm>
            <a:off x="720209" y="1160465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D763F74C-20D7-4F5A-8C6B-7B4C25F2C73A}"/>
              </a:ext>
            </a:extLst>
          </p:cNvPr>
          <p:cNvSpPr/>
          <p:nvPr/>
        </p:nvSpPr>
        <p:spPr>
          <a:xfrm>
            <a:off x="372785" y="967671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0DB5F9F-5DA4-4C42-868C-E336FAD66A53}"/>
              </a:ext>
            </a:extLst>
          </p:cNvPr>
          <p:cNvSpPr/>
          <p:nvPr/>
        </p:nvSpPr>
        <p:spPr>
          <a:xfrm>
            <a:off x="318564" y="1026259"/>
            <a:ext cx="383942" cy="29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344738A-2818-47BE-BF0A-0C71A4BACCC6}"/>
              </a:ext>
            </a:extLst>
          </p:cNvPr>
          <p:cNvSpPr/>
          <p:nvPr/>
        </p:nvSpPr>
        <p:spPr>
          <a:xfrm>
            <a:off x="623412" y="2012811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F391C1F6-C611-400E-90E4-96E12B978E4F}"/>
              </a:ext>
            </a:extLst>
          </p:cNvPr>
          <p:cNvSpPr/>
          <p:nvPr/>
        </p:nvSpPr>
        <p:spPr>
          <a:xfrm>
            <a:off x="336823" y="181425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A3E66EC9-B912-4D77-B74D-88149B11006E}"/>
              </a:ext>
            </a:extLst>
          </p:cNvPr>
          <p:cNvSpPr/>
          <p:nvPr/>
        </p:nvSpPr>
        <p:spPr>
          <a:xfrm>
            <a:off x="441241" y="1872118"/>
            <a:ext cx="13858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9B37BC8D-1D81-4AFA-B716-043F7CF25E00}"/>
              </a:ext>
            </a:extLst>
          </p:cNvPr>
          <p:cNvSpPr/>
          <p:nvPr/>
        </p:nvSpPr>
        <p:spPr>
          <a:xfrm>
            <a:off x="697349" y="3496102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A53B6227-A90E-4FEA-98C5-C8A3C2C33CBA}"/>
              </a:ext>
            </a:extLst>
          </p:cNvPr>
          <p:cNvSpPr/>
          <p:nvPr/>
        </p:nvSpPr>
        <p:spPr>
          <a:xfrm>
            <a:off x="336856" y="335946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DCB2F880-65DF-4392-AEDD-ECE698D1FBEE}"/>
              </a:ext>
            </a:extLst>
          </p:cNvPr>
          <p:cNvSpPr/>
          <p:nvPr/>
        </p:nvSpPr>
        <p:spPr>
          <a:xfrm>
            <a:off x="445679" y="3417329"/>
            <a:ext cx="129778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A125D723-3FE4-4F07-8512-F09BE7E77978}"/>
              </a:ext>
            </a:extLst>
          </p:cNvPr>
          <p:cNvSpPr/>
          <p:nvPr/>
        </p:nvSpPr>
        <p:spPr>
          <a:xfrm>
            <a:off x="623412" y="4417632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095643F0-A20C-42E5-8B2F-9F14B582110F}"/>
              </a:ext>
            </a:extLst>
          </p:cNvPr>
          <p:cNvSpPr/>
          <p:nvPr/>
        </p:nvSpPr>
        <p:spPr>
          <a:xfrm>
            <a:off x="339924" y="434367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7D7AF4D6-B0F7-4DE4-86A4-D99BE2735C0A}"/>
              </a:ext>
            </a:extLst>
          </p:cNvPr>
          <p:cNvSpPr/>
          <p:nvPr/>
        </p:nvSpPr>
        <p:spPr>
          <a:xfrm>
            <a:off x="438984" y="4401539"/>
            <a:ext cx="149185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ED42512A-2680-4464-9BC5-F5549B47F988}"/>
              </a:ext>
            </a:extLst>
          </p:cNvPr>
          <p:cNvSpPr/>
          <p:nvPr/>
        </p:nvSpPr>
        <p:spPr>
          <a:xfrm>
            <a:off x="684247" y="5934078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B5C28411-E8FA-40BA-98FC-0FD39B0B7C24}"/>
              </a:ext>
            </a:extLst>
          </p:cNvPr>
          <p:cNvSpPr/>
          <p:nvPr/>
        </p:nvSpPr>
        <p:spPr>
          <a:xfrm>
            <a:off x="339924" y="5731267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D52ABAC1-E06E-4D2D-879C-7911F1FCF820}"/>
              </a:ext>
            </a:extLst>
          </p:cNvPr>
          <p:cNvSpPr/>
          <p:nvPr/>
        </p:nvSpPr>
        <p:spPr>
          <a:xfrm>
            <a:off x="444818" y="5789132"/>
            <a:ext cx="13763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Shape 27">
            <a:extLst>
              <a:ext uri="{FF2B5EF4-FFF2-40B4-BE49-F238E27FC236}">
                <a16:creationId xmlns:a16="http://schemas.microsoft.com/office/drawing/2014/main" id="{C774E83E-8A4F-430B-B62C-45F67930ACAA}"/>
              </a:ext>
            </a:extLst>
          </p:cNvPr>
          <p:cNvSpPr/>
          <p:nvPr/>
        </p:nvSpPr>
        <p:spPr>
          <a:xfrm>
            <a:off x="684280" y="7188488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45" name="Shape 28">
            <a:extLst>
              <a:ext uri="{FF2B5EF4-FFF2-40B4-BE49-F238E27FC236}">
                <a16:creationId xmlns:a16="http://schemas.microsoft.com/office/drawing/2014/main" id="{EDFC4973-461B-4EAD-BB16-4E567FDCAE1A}"/>
              </a:ext>
            </a:extLst>
          </p:cNvPr>
          <p:cNvSpPr/>
          <p:nvPr/>
        </p:nvSpPr>
        <p:spPr>
          <a:xfrm>
            <a:off x="318564" y="7073059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84BCAF7D-002A-4230-8756-E92644688339}"/>
              </a:ext>
            </a:extLst>
          </p:cNvPr>
          <p:cNvSpPr/>
          <p:nvPr/>
        </p:nvSpPr>
        <p:spPr>
          <a:xfrm>
            <a:off x="415362" y="7130923"/>
            <a:ext cx="15382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</a:t>
            </a:r>
            <a:endParaRPr lang="en-US" sz="1800" dirty="0"/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A7FA720-886B-4016-A77C-18912EFB2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64" y="1315095"/>
            <a:ext cx="7198299" cy="5946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838" y="175865"/>
            <a:ext cx="13130451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Landmark Developments in Space Robotics: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42817" y="1676638"/>
            <a:ext cx="2188369" cy="1577459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630" y="2250995"/>
            <a:ext cx="1178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45379" y="1676638"/>
            <a:ext cx="384333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The Mars Exploration Rovers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52999" y="2268200"/>
            <a:ext cx="10513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The Mars Exploration Rovers, Spirit and Opportunity, made groundbreaking discoveries about the Martian environment.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38223" y="3238857"/>
            <a:ext cx="10728008" cy="15240"/>
          </a:xfrm>
          <a:prstGeom prst="roundRect">
            <a:avLst>
              <a:gd name="adj" fmla="val 590624"/>
            </a:avLst>
          </a:prstGeom>
          <a:solidFill>
            <a:srgbClr val="194A99"/>
          </a:solidFill>
          <a:ln/>
        </p:spPr>
      </p:sp>
      <p:sp>
        <p:nvSpPr>
          <p:cNvPr id="8" name="Shape 6"/>
          <p:cNvSpPr/>
          <p:nvPr/>
        </p:nvSpPr>
        <p:spPr>
          <a:xfrm>
            <a:off x="642817" y="3361134"/>
            <a:ext cx="4376738" cy="1577459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630" y="3935492"/>
            <a:ext cx="16013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92980" y="3382565"/>
            <a:ext cx="2678787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The Curiosity Rover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92980" y="3857560"/>
            <a:ext cx="83253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Curiosity, a more advanced rover, has explored Gale Crater and provided evidence for past water activity on Mars.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126591" y="4923353"/>
            <a:ext cx="8539639" cy="15240"/>
          </a:xfrm>
          <a:prstGeom prst="roundRect">
            <a:avLst>
              <a:gd name="adj" fmla="val 590624"/>
            </a:avLst>
          </a:prstGeom>
          <a:solidFill>
            <a:srgbClr val="194A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2817" y="5213032"/>
            <a:ext cx="6565225" cy="1577459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630" y="5619988"/>
            <a:ext cx="15001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422235" y="5259824"/>
            <a:ext cx="316051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The Perseverance Rover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22235" y="5723096"/>
            <a:ext cx="61368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Perseverance is a more advanced rover that is currently exploring Mars, searching for signs of past life.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506" y="208437"/>
            <a:ext cx="129028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Types of Space Robots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87007" y="5479047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Rovers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87007" y="6058923"/>
            <a:ext cx="3383876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4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Mobile robots designed to explore planetary surfaces, such as Mars rovers like Curiosity and Perseverance.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44964" y="5446829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Landers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544964" y="6058923"/>
            <a:ext cx="3383875" cy="276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Spacecraft designed to land on a planetary surface and conduct scientific experiments, such as the Viking landers on Mars.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55986" y="5446829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Orbiters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726440" y="6058923"/>
            <a:ext cx="3383875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4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Spacecraft that orbit a planet or moon and collect data from a distance, such as the Rosetta.</a:t>
            </a:r>
            <a:endParaRPr lang="en-US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09134B-A688-4C14-A8BD-7A3AE0F9B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06" y="1688123"/>
            <a:ext cx="4448909" cy="35696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4C52ECD-702C-4AB4-9801-C43E50B07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533" y="1688123"/>
            <a:ext cx="4198897" cy="362571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FCD37B7-DB00-4715-AAA0-0E724E433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569" y="1688123"/>
            <a:ext cx="4946746" cy="34328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994" y="194785"/>
            <a:ext cx="13549551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Evolution of Space Robotics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H="1">
            <a:off x="800101" y="724591"/>
            <a:ext cx="127158" cy="7218784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4" name="Shape 2"/>
          <p:cNvSpPr/>
          <p:nvPr/>
        </p:nvSpPr>
        <p:spPr>
          <a:xfrm>
            <a:off x="737984" y="985540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5" name="Shape 3"/>
          <p:cNvSpPr/>
          <p:nvPr/>
        </p:nvSpPr>
        <p:spPr>
          <a:xfrm>
            <a:off x="364482" y="84141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236" y="899278"/>
            <a:ext cx="101918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4592" y="2441933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10" name="Shape 8"/>
          <p:cNvSpPr/>
          <p:nvPr/>
        </p:nvSpPr>
        <p:spPr>
          <a:xfrm>
            <a:off x="346147" y="2253674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565" y="2311538"/>
            <a:ext cx="138589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5956" y="4326591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15" name="Shape 13"/>
          <p:cNvSpPr/>
          <p:nvPr/>
        </p:nvSpPr>
        <p:spPr>
          <a:xfrm>
            <a:off x="330637" y="4152879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460" y="4210744"/>
            <a:ext cx="129778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2640" y="6433633"/>
            <a:ext cx="540425" cy="22860"/>
          </a:xfrm>
          <a:prstGeom prst="roundRect">
            <a:avLst>
              <a:gd name="adj" fmla="val 283740"/>
            </a:avLst>
          </a:prstGeom>
          <a:solidFill>
            <a:srgbClr val="194A99"/>
          </a:solidFill>
          <a:ln/>
        </p:spPr>
      </p:sp>
      <p:sp>
        <p:nvSpPr>
          <p:cNvPr id="20" name="Shape 18"/>
          <p:cNvSpPr/>
          <p:nvPr/>
        </p:nvSpPr>
        <p:spPr>
          <a:xfrm>
            <a:off x="340400" y="6259920"/>
            <a:ext cx="347424" cy="347424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460" y="6317785"/>
            <a:ext cx="149185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CAD78EE-1BA9-46FB-8B09-B4C69D4C73A5}"/>
              </a:ext>
            </a:extLst>
          </p:cNvPr>
          <p:cNvSpPr/>
          <p:nvPr/>
        </p:nvSpPr>
        <p:spPr>
          <a:xfrm>
            <a:off x="1356039" y="771771"/>
            <a:ext cx="6310854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E2E2E5"/>
                </a:solidFill>
                <a:effectLst/>
              </a:rPr>
              <a:t>The Dawn of Automation (1950s-1970s):</a:t>
            </a:r>
            <a:r>
              <a:rPr lang="en-US" sz="2400" b="0" i="0" dirty="0">
                <a:solidFill>
                  <a:srgbClr val="E2E2E5"/>
                </a:solidFill>
                <a:effectLst/>
              </a:rPr>
              <a:t> </a:t>
            </a:r>
          </a:p>
          <a:p>
            <a:r>
              <a:rPr lang="en-US" sz="2400" b="0" i="0" dirty="0">
                <a:solidFill>
                  <a:srgbClr val="E2E2E5"/>
                </a:solidFill>
                <a:effectLst/>
              </a:rPr>
              <a:t>Simple mechanical devices and remotely controlled rovers like Lunokhod 1. </a:t>
            </a:r>
          </a:p>
          <a:p>
            <a:endParaRPr lang="en-US" sz="2400" b="0" i="0" dirty="0">
              <a:solidFill>
                <a:srgbClr val="E2E2E5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E2E2E5"/>
                </a:solidFill>
                <a:effectLst/>
              </a:rPr>
              <a:t>The Era of Robotic Arms (1980s-1990s):</a:t>
            </a:r>
            <a:r>
              <a:rPr lang="en-US" sz="2400" b="0" i="0" dirty="0">
                <a:solidFill>
                  <a:srgbClr val="E2E2E5"/>
                </a:solidFill>
                <a:effectLst/>
              </a:rPr>
              <a:t> </a:t>
            </a:r>
          </a:p>
          <a:p>
            <a:r>
              <a:rPr lang="en-US" sz="2400" b="0" i="0" dirty="0">
                <a:solidFill>
                  <a:srgbClr val="E2E2E5"/>
                </a:solidFill>
                <a:effectLst/>
              </a:rPr>
              <a:t>Introduction of robotic arms like the </a:t>
            </a:r>
            <a:r>
              <a:rPr lang="en-US" sz="2400" b="0" i="0" dirty="0" err="1">
                <a:solidFill>
                  <a:srgbClr val="E2E2E5"/>
                </a:solidFill>
                <a:effectLst/>
              </a:rPr>
              <a:t>Canadarm</a:t>
            </a:r>
            <a:r>
              <a:rPr lang="en-US" sz="2400" b="0" i="0" dirty="0">
                <a:solidFill>
                  <a:srgbClr val="E2E2E5"/>
                </a:solidFill>
                <a:effectLst/>
              </a:rPr>
              <a:t> on the Space Shuttle.</a:t>
            </a:r>
          </a:p>
          <a:p>
            <a:endParaRPr lang="en-US" sz="2400" b="0" i="0" dirty="0">
              <a:solidFill>
                <a:srgbClr val="E2E2E5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E2E2E5"/>
                </a:solidFill>
                <a:effectLst/>
              </a:rPr>
              <a:t>The Rise of Autonomous Rovers (2000s):</a:t>
            </a:r>
            <a:r>
              <a:rPr lang="en-US" sz="2400" dirty="0">
                <a:solidFill>
                  <a:srgbClr val="E2E2E5"/>
                </a:solidFill>
              </a:rPr>
              <a:t> </a:t>
            </a:r>
          </a:p>
          <a:p>
            <a:r>
              <a:rPr lang="en-US" sz="2400" b="0" i="0" dirty="0">
                <a:solidFill>
                  <a:srgbClr val="E2E2E5"/>
                </a:solidFill>
                <a:effectLst/>
              </a:rPr>
              <a:t>Development of more sophisticated sensors and onboard computers.</a:t>
            </a:r>
          </a:p>
          <a:p>
            <a:r>
              <a:rPr lang="en-US" sz="2400" b="0" i="0" dirty="0">
                <a:solidFill>
                  <a:srgbClr val="E2E2E5"/>
                </a:solidFill>
                <a:effectLst/>
              </a:rPr>
              <a:t> Examples include the Mars Exploration Rovers (Spirit and Opportunity)</a:t>
            </a:r>
          </a:p>
          <a:p>
            <a:endParaRPr lang="en-US" sz="2400" b="0" i="0" dirty="0">
              <a:solidFill>
                <a:srgbClr val="E2E2E5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E2E2E5"/>
                </a:solidFill>
                <a:effectLst/>
              </a:rPr>
              <a:t>The Age of Advanced Robotics (2010s-Present):</a:t>
            </a:r>
          </a:p>
          <a:p>
            <a:r>
              <a:rPr lang="en-US" sz="2400" b="0" i="0" dirty="0">
                <a:solidFill>
                  <a:srgbClr val="E2E2E5"/>
                </a:solidFill>
                <a:effectLst/>
              </a:rPr>
              <a:t> Highly capable rovers with advanced scientific instruments, robotic arms with greater dexterity, and the use of AI for decision-making. </a:t>
            </a:r>
          </a:p>
          <a:p>
            <a:r>
              <a:rPr lang="en-US" sz="2400" b="0" i="0" dirty="0">
                <a:solidFill>
                  <a:srgbClr val="E2E2E5"/>
                </a:solidFill>
                <a:effectLst/>
              </a:rPr>
              <a:t>Examples include Curiosity and Perseverance on Mars.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241ECDB-9C69-41D2-995C-BCA9603B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455" y="512454"/>
            <a:ext cx="6727951" cy="2795246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88E4A1E-3E9F-4D1E-BFA1-E9EE5993E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455" y="3395192"/>
            <a:ext cx="3421257" cy="460553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93204664-A9F2-4D4B-B6A7-7575AE555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2273" y="4044930"/>
            <a:ext cx="3397373" cy="3306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6844" y="231577"/>
            <a:ext cx="7743111" cy="2501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Contributions of Space Robots to Humanity and Science: Expanding Our Knowledge of the Universe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031156" y="2410812"/>
            <a:ext cx="3771543" cy="3627321"/>
          </a:xfrm>
          <a:prstGeom prst="roundRect">
            <a:avLst>
              <a:gd name="adj" fmla="val 343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93667" y="2535787"/>
            <a:ext cx="2635448" cy="46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Scientific Discoveries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238800" y="3370671"/>
            <a:ext cx="3356253" cy="2371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Space robots have made groundbreaking discoveries about the planets, moons, and other celestial bodies in our solar system.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0010344" y="2410812"/>
            <a:ext cx="3771543" cy="3627321"/>
          </a:xfrm>
          <a:prstGeom prst="roundRect">
            <a:avLst>
              <a:gd name="adj" fmla="val 343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17989" y="2499503"/>
            <a:ext cx="4043134" cy="92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Technological Advancements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217988" y="3429971"/>
            <a:ext cx="3356253" cy="189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Space robotics has driven advancements in fields like robotics, computer science, and materials science.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038776" y="5521865"/>
            <a:ext cx="7743111" cy="2204576"/>
          </a:xfrm>
          <a:prstGeom prst="roundRect">
            <a:avLst>
              <a:gd name="adj" fmla="val 564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3667" y="5707348"/>
            <a:ext cx="4265890" cy="46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Inspiration for Future Generations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08586" y="6341862"/>
            <a:ext cx="7188225" cy="9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The success of space robots has inspired generations of scientists, engineers, and dreamers.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3D573A-E168-4112-BC6E-D663A7057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703" y="4430559"/>
            <a:ext cx="5225778" cy="354115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444C81-D379-43F3-903F-29FCE449E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14" y="257888"/>
            <a:ext cx="5225778" cy="46532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C18256-648A-4158-B960-FA52CE44D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703" y="257888"/>
            <a:ext cx="7307613" cy="412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0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804" y="246758"/>
            <a:ext cx="7886700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Prognosis for the Future of Space Robotics: A Bright Future Awaits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886069"/>
            <a:ext cx="448985" cy="4489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2514600"/>
            <a:ext cx="2245281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Advanced Robots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628650" y="2902982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Future space robots are expected to be more autonomous, intelligent, and capable of performing more complex tasks.</a:t>
            </a:r>
            <a:endParaRPr lang="en-US" sz="2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016693"/>
            <a:ext cx="448985" cy="4489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650" y="4645223"/>
            <a:ext cx="2245281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New Frontiers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628650" y="5033605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Space robots will play a crucial role in exploring distant planets, moons, and asteroids, expanding our knowledge of the universe.</a:t>
            </a:r>
            <a:endParaRPr lang="en-US" sz="2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6147316"/>
            <a:ext cx="448985" cy="4489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" y="6775847"/>
            <a:ext cx="2271117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Space Infrastructure</a:t>
            </a:r>
            <a:endParaRPr lang="en-US" sz="2800" dirty="0"/>
          </a:p>
        </p:txBody>
      </p:sp>
      <p:sp>
        <p:nvSpPr>
          <p:cNvPr id="12" name="Text 6"/>
          <p:cNvSpPr/>
          <p:nvPr/>
        </p:nvSpPr>
        <p:spPr>
          <a:xfrm>
            <a:off x="628650" y="7164229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Robots will be used to build and maintain space infrastructure, such as space stations and lunar bases.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198" y="330151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Conclusion: The Enduring Impact of Robots in Space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98968" y="3325177"/>
            <a:ext cx="6680002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32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Space robots have revolutionized space exploration, pushing the boundaries of our understanding and enabling us to reach new heights in our quest to unravel the mysteries of the space.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3682D1-DAD0-4D12-AAC3-C252A6AD949A}"/>
              </a:ext>
            </a:extLst>
          </p:cNvPr>
          <p:cNvSpPr txBox="1"/>
          <p:nvPr/>
        </p:nvSpPr>
        <p:spPr>
          <a:xfrm>
            <a:off x="1705074" y="382286"/>
            <a:ext cx="112202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Thank you for your attention!</a:t>
            </a:r>
            <a:endParaRPr lang="ru-RU" sz="72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DE469F-5E89-406C-BA3C-0D1C4FFD0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296" y="1582615"/>
            <a:ext cx="9026382" cy="644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08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474</Words>
  <Application>Microsoft Office PowerPoint</Application>
  <PresentationFormat>Произвольный</PresentationFormat>
  <Paragraphs>123</Paragraphs>
  <Slides>13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Merriweather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Evita Kud</cp:lastModifiedBy>
  <cp:revision>34</cp:revision>
  <dcterms:created xsi:type="dcterms:W3CDTF">2024-12-13T20:34:41Z</dcterms:created>
  <dcterms:modified xsi:type="dcterms:W3CDTF">2024-12-14T07:33:08Z</dcterms:modified>
</cp:coreProperties>
</file>