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8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21328" y="62350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Bathyscaphes : revolutionary explorers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11326974" y="717618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By IU5-32B Student: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2800" dirty="0" err="1">
                <a:solidFill>
                  <a:schemeClr val="bg1"/>
                </a:solidFill>
              </a:rPr>
              <a:t>Kudabaeva</a:t>
            </a:r>
            <a:r>
              <a:rPr lang="en-US" sz="2800" dirty="0">
                <a:solidFill>
                  <a:schemeClr val="bg1"/>
                </a:solidFill>
              </a:rPr>
              <a:t> Evita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EC85B59-BBB8-4EE6-8BC7-0C9642226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59" y="555653"/>
            <a:ext cx="9484789" cy="533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005" y="329904"/>
            <a:ext cx="63756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Definition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319005" y="2655011"/>
            <a:ext cx="3620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A Deep-Sea Submersible</a:t>
            </a:r>
            <a:endParaRPr lang="en-US" sz="3200" u="sng" dirty="0"/>
          </a:p>
        </p:txBody>
      </p:sp>
      <p:sp>
        <p:nvSpPr>
          <p:cNvPr id="4" name="Text 2"/>
          <p:cNvSpPr/>
          <p:nvPr/>
        </p:nvSpPr>
        <p:spPr>
          <a:xfrm>
            <a:off x="348470" y="3751897"/>
            <a:ext cx="40226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800" b="1" u="sng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Bathyscaphes</a:t>
            </a: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 — free-diving submersibles designed to reach extreme ocean depths.</a:t>
            </a:r>
            <a:endParaRPr lang="en-US" sz="2800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5C143C04-9A94-476E-8647-41B7FA338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015" y="1441860"/>
            <a:ext cx="9199976" cy="645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5866" y="346438"/>
            <a:ext cx="61460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history of creation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2AF823-F6F8-4136-B8D4-667CD20213E6}"/>
              </a:ext>
            </a:extLst>
          </p:cNvPr>
          <p:cNvSpPr txBox="1"/>
          <p:nvPr/>
        </p:nvSpPr>
        <p:spPr>
          <a:xfrm>
            <a:off x="319005" y="1327521"/>
            <a:ext cx="558351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Swiss physicist </a:t>
            </a:r>
            <a:r>
              <a:rPr lang="en-US" sz="2800" b="1" u="sng" dirty="0">
                <a:solidFill>
                  <a:schemeClr val="bg1"/>
                </a:solidFill>
              </a:rPr>
              <a:t>Auguste Piccard</a:t>
            </a:r>
            <a:r>
              <a:rPr lang="en-US" sz="2800" dirty="0">
                <a:solidFill>
                  <a:schemeClr val="bg1"/>
                </a:solidFill>
              </a:rPr>
              <a:t> invented the bathyscaphe.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He had already pioneered high-altitude balloon flights in the 1930s, and applied similar principles of a pressurized cabin and buoyancy to deep-sea exploration.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 first bathyscaphe, </a:t>
            </a:r>
            <a:r>
              <a:rPr lang="en-US" sz="2800" i="1" dirty="0">
                <a:solidFill>
                  <a:schemeClr val="bg1"/>
                </a:solidFill>
              </a:rPr>
              <a:t>FNRS-2</a:t>
            </a:r>
            <a:r>
              <a:rPr lang="en-US" sz="2800" dirty="0">
                <a:solidFill>
                  <a:schemeClr val="bg1"/>
                </a:solidFill>
              </a:rPr>
              <a:t>, was built in Belgium and launched in 1948. </a:t>
            </a:r>
          </a:p>
          <a:p>
            <a:r>
              <a:rPr lang="en-US" sz="2800" dirty="0">
                <a:solidFill>
                  <a:schemeClr val="bg1"/>
                </a:solidFill>
              </a:rPr>
              <a:t>Piccard and his son, </a:t>
            </a:r>
            <a:r>
              <a:rPr lang="en-US" sz="2800" b="1" u="sng" dirty="0">
                <a:solidFill>
                  <a:schemeClr val="bg1"/>
                </a:solidFill>
              </a:rPr>
              <a:t>Jacques Piccard</a:t>
            </a:r>
            <a:r>
              <a:rPr lang="en-US" sz="2800" dirty="0">
                <a:solidFill>
                  <a:schemeClr val="bg1"/>
                </a:solidFill>
              </a:rPr>
              <a:t>, built the second bathyscaphe, the </a:t>
            </a:r>
            <a:r>
              <a:rPr lang="en-US" sz="2800" i="1" dirty="0">
                <a:solidFill>
                  <a:schemeClr val="bg1"/>
                </a:solidFill>
              </a:rPr>
              <a:t>Trieste</a:t>
            </a:r>
            <a:r>
              <a:rPr lang="en-US" sz="2800" dirty="0">
                <a:solidFill>
                  <a:schemeClr val="bg1"/>
                </a:solidFill>
              </a:rPr>
              <a:t>, in Italy.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5B79CEA-5ED5-4847-8C68-204161909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75" y="412950"/>
            <a:ext cx="3893978" cy="34885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C01564D-4EC2-4856-B0B0-27DF755C1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5183" y="412951"/>
            <a:ext cx="3646212" cy="34885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DA3F5A7-198B-44BD-84DE-16CC163FE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714" y="4167555"/>
            <a:ext cx="4117319" cy="393285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F671E10-ACC2-4999-837E-C28BEE9D15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930" y="4114800"/>
            <a:ext cx="3534268" cy="39328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65590" y="171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Key Components and Structure</a:t>
            </a:r>
            <a:endParaRPr lang="en-US" sz="44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1D831D2-BCC4-45FE-9031-638DEA417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31" y="782790"/>
            <a:ext cx="12331438" cy="7120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4372" y="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Milestones </a:t>
            </a:r>
            <a:endParaRPr lang="en-US" sz="4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EC65E-D2F0-47F3-BC03-9BEA07B44F57}"/>
              </a:ext>
            </a:extLst>
          </p:cNvPr>
          <p:cNvSpPr txBox="1"/>
          <p:nvPr/>
        </p:nvSpPr>
        <p:spPr>
          <a:xfrm>
            <a:off x="254372" y="583829"/>
            <a:ext cx="623435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 1960 </a:t>
            </a:r>
            <a:r>
              <a:rPr lang="en-US" sz="2800" b="1" u="sng" dirty="0">
                <a:solidFill>
                  <a:schemeClr val="bg1"/>
                </a:solidFill>
              </a:rPr>
              <a:t>Jacques Piccard</a:t>
            </a:r>
            <a:r>
              <a:rPr lang="en-US" sz="2800" dirty="0">
                <a:solidFill>
                  <a:schemeClr val="bg1"/>
                </a:solidFill>
              </a:rPr>
              <a:t>, along with </a:t>
            </a:r>
            <a:r>
              <a:rPr lang="en-US" sz="2800" b="1" u="sng" dirty="0">
                <a:solidFill>
                  <a:schemeClr val="bg1"/>
                </a:solidFill>
              </a:rPr>
              <a:t>Don Walsh</a:t>
            </a:r>
            <a:r>
              <a:rPr lang="en-US" sz="2800" dirty="0">
                <a:solidFill>
                  <a:schemeClr val="bg1"/>
                </a:solidFill>
              </a:rPr>
              <a:t> of the US Navy, piloted the </a:t>
            </a:r>
            <a:r>
              <a:rPr lang="en-US" sz="2800" i="1" dirty="0">
                <a:solidFill>
                  <a:schemeClr val="bg1"/>
                </a:solidFill>
              </a:rPr>
              <a:t>Trieste</a:t>
            </a:r>
            <a:r>
              <a:rPr lang="en-US" sz="2800" dirty="0">
                <a:solidFill>
                  <a:schemeClr val="bg1"/>
                </a:solidFill>
              </a:rPr>
              <a:t> to the deepest point in the ocean, the Challenger Deep in the Mariana Trench (~ 11 km!). 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56B9B5D-999E-4B10-A0D3-E3ACE6C39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04" y="3089628"/>
            <a:ext cx="6058503" cy="46613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E7C153-F679-403F-9F57-786A0102C8B6}"/>
              </a:ext>
            </a:extLst>
          </p:cNvPr>
          <p:cNvSpPr txBox="1"/>
          <p:nvPr/>
        </p:nvSpPr>
        <p:spPr>
          <a:xfrm>
            <a:off x="6523891" y="544194"/>
            <a:ext cx="81065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</a:rPr>
              <a:t>Mir </a:t>
            </a:r>
            <a:r>
              <a:rPr lang="en-US" sz="2800" dirty="0">
                <a:solidFill>
                  <a:schemeClr val="bg1"/>
                </a:solidFill>
              </a:rPr>
              <a:t>(Russian: </a:t>
            </a:r>
            <a:r>
              <a:rPr lang="en-US" sz="2800" dirty="0" err="1">
                <a:solidFill>
                  <a:schemeClr val="bg1"/>
                </a:solidFill>
              </a:rPr>
              <a:t>Мир</a:t>
            </a:r>
            <a:r>
              <a:rPr lang="en-US" sz="2800" dirty="0">
                <a:solidFill>
                  <a:schemeClr val="bg1"/>
                </a:solidFill>
              </a:rPr>
              <a:t>, lit. 'world, peace’) —a class of two self-propelled deep-submergence vehicles. 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project was initially developed by the USSR Academy of Sciences along with </a:t>
            </a:r>
            <a:r>
              <a:rPr lang="en-US" sz="2800" dirty="0" err="1">
                <a:solidFill>
                  <a:schemeClr val="bg1"/>
                </a:solidFill>
              </a:rPr>
              <a:t>Lazurit</a:t>
            </a:r>
            <a:r>
              <a:rPr lang="en-US" sz="2800" dirty="0">
                <a:solidFill>
                  <a:schemeClr val="bg1"/>
                </a:solidFill>
              </a:rPr>
              <a:t> Central Design Bureau, and two vehicles were ordered from Finland. 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Mir-1 and Mir-2, delivered in 1987, were designed and built by the Finnish company Rauma-</a:t>
            </a:r>
            <a:r>
              <a:rPr lang="en-US" sz="2800" dirty="0" err="1">
                <a:solidFill>
                  <a:schemeClr val="bg1"/>
                </a:solidFill>
              </a:rPr>
              <a:t>Repola's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Oceanics</a:t>
            </a:r>
            <a:r>
              <a:rPr lang="en-US" sz="2800" dirty="0">
                <a:solidFill>
                  <a:schemeClr val="bg1"/>
                </a:solidFill>
              </a:rPr>
              <a:t> subsidiary. 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31D0881-D76E-4678-86DA-E6CA986C7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585" y="4272829"/>
            <a:ext cx="4730261" cy="3535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3563" y="221456"/>
            <a:ext cx="7828717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The Importance of the creation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34" y="1247775"/>
            <a:ext cx="465058" cy="4650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1034" y="1898809"/>
            <a:ext cx="2325410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Exploration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643176" y="2408157"/>
            <a:ext cx="4993628" cy="10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Bathyscaphes opened up the deep ocean to 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exploration, revealing its mysteries.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34" y="3326080"/>
            <a:ext cx="465058" cy="4650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1034" y="4222790"/>
            <a:ext cx="2976562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Scientific Advancements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651034" y="4751376"/>
            <a:ext cx="784193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They facilitated groundbreaking research on marine life, geology, and oceanographic processes.</a:t>
            </a:r>
            <a:endParaRPr lang="en-US" sz="3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4" y="5778341"/>
            <a:ext cx="465058" cy="4650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1034" y="6517083"/>
            <a:ext cx="2996922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Technological Innovation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651034" y="7086666"/>
            <a:ext cx="784193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The development of bathyscaphes spurred technological advancements in materials and engineering.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082" y="356447"/>
            <a:ext cx="90795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Advantages and Disadvantages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17944" y="21907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7944" y="277191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High depth capability, maneuverability, and the ability to stay submerged for extended periods.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17944" y="52353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17944" y="581652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Limited space, slow speed, and dependence on complex support systems.</a:t>
            </a:r>
            <a:endParaRPr lang="en-US" sz="3200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8F6A0B83-FFFE-4AEB-9427-5808DF70D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630" y="142670"/>
            <a:ext cx="6837933" cy="367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B1339004-9573-47DD-BD86-B89F59F34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746" y="4114800"/>
            <a:ext cx="5250920" cy="393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113" y="275520"/>
            <a:ext cx="6309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Scientific Discoveries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889635" y="2308740"/>
            <a:ext cx="30480" cy="3991928"/>
          </a:xfrm>
          <a:prstGeom prst="roundRect">
            <a:avLst>
              <a:gd name="adj" fmla="val 111628"/>
            </a:avLst>
          </a:prstGeom>
          <a:solidFill>
            <a:srgbClr val="3F3F44"/>
          </a:solidFill>
          <a:ln/>
        </p:spPr>
      </p:sp>
      <p:sp>
        <p:nvSpPr>
          <p:cNvPr id="5" name="Shape 2"/>
          <p:cNvSpPr/>
          <p:nvPr/>
        </p:nvSpPr>
        <p:spPr>
          <a:xfrm>
            <a:off x="1129546" y="280380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3F3F44"/>
          </a:solidFill>
          <a:ln/>
        </p:spPr>
      </p:sp>
      <p:sp>
        <p:nvSpPr>
          <p:cNvPr id="6" name="Shape 3"/>
          <p:cNvSpPr/>
          <p:nvPr/>
        </p:nvSpPr>
        <p:spPr>
          <a:xfrm>
            <a:off x="649724" y="256389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7" name="Text 4"/>
          <p:cNvSpPr/>
          <p:nvPr/>
        </p:nvSpPr>
        <p:spPr>
          <a:xfrm>
            <a:off x="832842" y="2648901"/>
            <a:ext cx="14394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52412" y="2535554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New marine life forms, including deep-sea fish, invertebrates, and microorganisms.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129546" y="4210049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3F3F44"/>
          </a:solidFill>
          <a:ln/>
        </p:spPr>
      </p:sp>
      <p:sp>
        <p:nvSpPr>
          <p:cNvPr id="10" name="Shape 7"/>
          <p:cNvSpPr/>
          <p:nvPr/>
        </p:nvSpPr>
        <p:spPr>
          <a:xfrm>
            <a:off x="649724" y="397013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798910" y="4055148"/>
            <a:ext cx="2119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152412" y="3941801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Detailed information on hydrothermal vents and their ecosystems.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129546" y="5616296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3F3F44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724" y="53763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5" name="Text 12"/>
          <p:cNvSpPr/>
          <p:nvPr/>
        </p:nvSpPr>
        <p:spPr>
          <a:xfrm>
            <a:off x="799386" y="5461396"/>
            <a:ext cx="21097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152412" y="5348048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Insights into the geological structure and composition of the ocean floor.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60221" y="876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Old to New Models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152" y="2243614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26384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Early Models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7726384" y="296084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Simple design with a pressure sphere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and flotation tanks.</a:t>
            </a:r>
            <a:endParaRPr lang="en-US" sz="2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152" y="4058126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26384" y="4284940"/>
            <a:ext cx="31814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Sora Medium" pitchFamily="34" charset="-122"/>
                <a:cs typeface="Sora Medium" pitchFamily="34" charset="-120"/>
              </a:rPr>
              <a:t>Modern Submersibles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7726384" y="477535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Advanced design with improved maneuverability, technology, and safety features.</a:t>
            </a:r>
            <a:endParaRPr lang="en-US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19AEFAA-D5DD-47CD-B7E9-F683AE195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6" y="177611"/>
            <a:ext cx="4365320" cy="38088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AD0F73-5D97-49FE-97B8-F0AEBC3299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96" y="4284940"/>
            <a:ext cx="4734228" cy="3490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5868" y="3999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3600" dirty="0">
                <a:solidFill>
                  <a:srgbClr val="97B8FF"/>
                </a:solidFill>
                <a:ea typeface="Sora Medium" pitchFamily="34" charset="-122"/>
                <a:cs typeface="Sora Medium" pitchFamily="34" charset="-120"/>
              </a:rPr>
              <a:t>Contribution to Undersea Exploration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93790" y="2137867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Bathyscaphes have played a crucial role in revolutionizing our understanding of the deep ocean. </a:t>
            </a:r>
          </a:p>
          <a:p>
            <a:pPr marL="0" indent="0">
              <a:lnSpc>
                <a:spcPts val="2850"/>
              </a:lnSpc>
              <a:buNone/>
            </a:pPr>
            <a:endParaRPr lang="en-US" sz="3200" dirty="0">
              <a:solidFill>
                <a:srgbClr val="E0D6DE"/>
              </a:solidFill>
              <a:ea typeface="Noto Sans TC" pitchFamily="34" charset="-122"/>
              <a:cs typeface="Noto Sans TC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endParaRPr lang="en-US" sz="3200" dirty="0">
              <a:solidFill>
                <a:srgbClr val="E0D6DE"/>
              </a:solidFill>
              <a:ea typeface="Noto Sans TC" pitchFamily="34" charset="-122"/>
              <a:cs typeface="Noto Sans TC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endParaRPr lang="en-US" sz="3200" dirty="0">
              <a:solidFill>
                <a:srgbClr val="E0D6DE"/>
              </a:solidFill>
              <a:ea typeface="Noto Sans TC" pitchFamily="34" charset="-122"/>
              <a:cs typeface="Noto Sans TC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endParaRPr lang="en-US" sz="3200" dirty="0">
              <a:solidFill>
                <a:srgbClr val="E0D6DE"/>
              </a:solidFill>
              <a:ea typeface="Noto Sans TC" pitchFamily="34" charset="-122"/>
              <a:cs typeface="Noto Sans TC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3200" dirty="0">
                <a:solidFill>
                  <a:srgbClr val="E0D6DE"/>
                </a:solidFill>
                <a:ea typeface="Noto Sans TC" pitchFamily="34" charset="-122"/>
                <a:cs typeface="Noto Sans TC" pitchFamily="34" charset="-120"/>
              </a:rPr>
              <a:t>Their contributions to science, technology, and exploration continue to inspire awe and wonder as we venture into the unknown depths of our planet.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0968E-9498-4FF6-A672-E52820EA84B1}"/>
              </a:ext>
            </a:extLst>
          </p:cNvPr>
          <p:cNvSpPr txBox="1"/>
          <p:nvPr/>
        </p:nvSpPr>
        <p:spPr>
          <a:xfrm>
            <a:off x="3083111" y="562708"/>
            <a:ext cx="8464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Thank you for your attention!</a:t>
            </a:r>
            <a:endParaRPr lang="ru-RU" sz="5400" dirty="0">
              <a:solidFill>
                <a:schemeClr val="bg1"/>
              </a:solidFill>
            </a:endParaRP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D0A94490-12BE-4479-B4EA-6FAB91BC9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4" y="1704242"/>
            <a:ext cx="59626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88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310</Words>
  <Application>Microsoft Office PowerPoint</Application>
  <PresentationFormat>Произвольный</PresentationFormat>
  <Paragraphs>64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Evita Kud</cp:lastModifiedBy>
  <cp:revision>22</cp:revision>
  <dcterms:created xsi:type="dcterms:W3CDTF">2024-11-15T19:40:50Z</dcterms:created>
  <dcterms:modified xsi:type="dcterms:W3CDTF">2024-11-15T20:53:40Z</dcterms:modified>
</cp:coreProperties>
</file>