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8" r:id="rId14"/>
    <p:sldId id="269" r:id="rId15"/>
  </p:sldIdLst>
  <p:sldSz cx="14630400" cy="8229600"/>
  <p:notesSz cx="8229600" cy="146304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96"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876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www.visualcapitalist.com/how-chatgpt-works-visualizing-ai-architectures/" TargetMode="External"/><Relationship Id="rId3" Type="http://schemas.openxmlformats.org/officeDocument/2006/relationships/hyperlink" Target="https://www.iea.org/energy-system/buildings/data-centres-and-data-transmission-networks" TargetMode="External"/><Relationship Id="rId7" Type="http://schemas.openxmlformats.org/officeDocument/2006/relationships/hyperlink" Target="https://www.economist.com/leaders/2024/03/27/the-coming-ai-bubble" TargetMode="External"/><Relationship Id="rId2" Type="http://schemas.openxmlformats.org/officeDocument/2006/relationships/hyperlink" Target="https://www.theatlantic.com/technology/archive/2023/10/ai-energy-consumption-google-microsoft-openai/675747/" TargetMode="External"/><Relationship Id="rId1" Type="http://schemas.openxmlformats.org/officeDocument/2006/relationships/slideLayout" Target="../slideLayouts/slideLayout1.xml"/><Relationship Id="rId6" Type="http://schemas.openxmlformats.org/officeDocument/2006/relationships/hyperlink" Target="https://huggingface.co/blog/llm-environmental-impact" TargetMode="External"/><Relationship Id="rId5" Type="http://schemas.openxmlformats.org/officeDocument/2006/relationships/hyperlink" Target="https://www.ft.com/content/a94ffa6f-6dd9-4e93-8f7d-263c3e5c8d4f" TargetMode="External"/><Relationship Id="rId4" Type="http://schemas.openxmlformats.org/officeDocument/2006/relationships/hyperlink" Target="https://www.wsj.com/tech/ai/ai-data-centers-power-local-communities-0f12f6c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BA1630-271E-9D26-2B85-C36D3CA6AEC5}"/>
              </a:ext>
            </a:extLst>
          </p:cNvPr>
          <p:cNvSpPr txBox="1"/>
          <p:nvPr/>
        </p:nvSpPr>
        <p:spPr>
          <a:xfrm>
            <a:off x="641684" y="658242"/>
            <a:ext cx="7315200" cy="2247603"/>
          </a:xfrm>
          <a:prstGeom prst="rect">
            <a:avLst/>
          </a:prstGeom>
          <a:noFill/>
        </p:spPr>
        <p:txBody>
          <a:bodyPr wrap="square">
            <a:spAutoFit/>
          </a:bodyPr>
          <a:lstStyle/>
          <a:p>
            <a:pPr marL="0" indent="0" algn="l">
              <a:lnSpc>
                <a:spcPts val="5550"/>
              </a:lnSpc>
              <a:buNone/>
            </a:pPr>
            <a:r>
              <a:rPr lang="en-US" sz="6000" dirty="0">
                <a:solidFill>
                  <a:srgbClr val="EDEDE8"/>
                </a:solidFill>
                <a:latin typeface="Times New Roman" panose="02020603050405020304" pitchFamily="18" charset="0"/>
                <a:ea typeface="Tomorrow Semi Bold" pitchFamily="34" charset="-122"/>
                <a:cs typeface="Times New Roman" panose="02020603050405020304" pitchFamily="18" charset="0"/>
              </a:rPr>
              <a:t>The Engine of AI: Powering Our Future, Straining Our Planet</a:t>
            </a:r>
            <a:endParaRPr lang="en-US" sz="60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6C0A8C85-668C-AC77-969C-8831E8C600A4}"/>
              </a:ext>
            </a:extLst>
          </p:cNvPr>
          <p:cNvPicPr>
            <a:picLocks noChangeAspect="1"/>
          </p:cNvPicPr>
          <p:nvPr/>
        </p:nvPicPr>
        <p:blipFill>
          <a:blip r:embed="rId2"/>
          <a:stretch>
            <a:fillRect/>
          </a:stretch>
        </p:blipFill>
        <p:spPr>
          <a:xfrm>
            <a:off x="5983705" y="3321151"/>
            <a:ext cx="8646695" cy="4863766"/>
          </a:xfrm>
          <a:prstGeom prst="rect">
            <a:avLst/>
          </a:prstGeom>
        </p:spPr>
      </p:pic>
      <p:sp>
        <p:nvSpPr>
          <p:cNvPr id="8" name="TextBox 7">
            <a:extLst>
              <a:ext uri="{FF2B5EF4-FFF2-40B4-BE49-F238E27FC236}">
                <a16:creationId xmlns:a16="http://schemas.microsoft.com/office/drawing/2014/main" id="{486DBDCA-9099-C40D-EC01-5CC88EF93A78}"/>
              </a:ext>
            </a:extLst>
          </p:cNvPr>
          <p:cNvSpPr txBox="1"/>
          <p:nvPr/>
        </p:nvSpPr>
        <p:spPr>
          <a:xfrm>
            <a:off x="224590" y="6314928"/>
            <a:ext cx="7315200" cy="1410001"/>
          </a:xfrm>
          <a:prstGeom prst="rect">
            <a:avLst/>
          </a:prstGeom>
          <a:noFill/>
        </p:spPr>
        <p:txBody>
          <a:bodyPr wrap="square">
            <a:spAutoFit/>
          </a:bodyPr>
          <a:lstStyle/>
          <a:p>
            <a:pPr marL="0" indent="0" algn="l">
              <a:lnSpc>
                <a:spcPts val="5550"/>
              </a:lnSpc>
              <a:buNone/>
            </a:pPr>
            <a:r>
              <a:rPr lang="en-US" dirty="0">
                <a:solidFill>
                  <a:srgbClr val="EDEDE8"/>
                </a:solidFill>
                <a:latin typeface="Times New Roman" panose="02020603050405020304" pitchFamily="18" charset="0"/>
                <a:cs typeface="Times New Roman" panose="02020603050405020304" pitchFamily="18" charset="0"/>
              </a:rPr>
              <a:t>Group: IU5-52B</a:t>
            </a:r>
          </a:p>
          <a:p>
            <a:pPr marL="0" indent="0" algn="l">
              <a:lnSpc>
                <a:spcPts val="5550"/>
              </a:lnSpc>
              <a:buNone/>
            </a:pPr>
            <a:r>
              <a:rPr lang="en-US" sz="1800" dirty="0">
                <a:solidFill>
                  <a:srgbClr val="EDEDE8"/>
                </a:solidFill>
                <a:latin typeface="Times New Roman" panose="02020603050405020304" pitchFamily="18" charset="0"/>
                <a:cs typeface="Times New Roman" panose="02020603050405020304" pitchFamily="18" charset="0"/>
              </a:rPr>
              <a:t>Student</a:t>
            </a:r>
            <a:r>
              <a:rPr lang="en-US" dirty="0">
                <a:solidFill>
                  <a:srgbClr val="EDEDE8"/>
                </a:solidFill>
                <a:latin typeface="Times New Roman" panose="02020603050405020304" pitchFamily="18" charset="0"/>
                <a:cs typeface="Times New Roman" panose="02020603050405020304" pitchFamily="18" charset="0"/>
              </a:rPr>
              <a:t>: </a:t>
            </a:r>
            <a:r>
              <a:rPr lang="en-US" dirty="0" err="1">
                <a:solidFill>
                  <a:srgbClr val="EDEDE8"/>
                </a:solidFill>
                <a:latin typeface="Times New Roman" panose="02020603050405020304" pitchFamily="18" charset="0"/>
                <a:cs typeface="Times New Roman" panose="02020603050405020304" pitchFamily="18" charset="0"/>
              </a:rPr>
              <a:t>Kudabayeva</a:t>
            </a:r>
            <a:r>
              <a:rPr lang="en-US" dirty="0">
                <a:solidFill>
                  <a:srgbClr val="EDEDE8"/>
                </a:solidFill>
                <a:latin typeface="Times New Roman" panose="02020603050405020304" pitchFamily="18" charset="0"/>
                <a:cs typeface="Times New Roman" panose="02020603050405020304" pitchFamily="18" charset="0"/>
              </a:rPr>
              <a:t> Evita</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146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FE8BEB-EC2B-12DC-B210-C7C38D1DED2A}"/>
              </a:ext>
            </a:extLst>
          </p:cNvPr>
          <p:cNvSpPr txBox="1"/>
          <p:nvPr/>
        </p:nvSpPr>
        <p:spPr>
          <a:xfrm>
            <a:off x="452890" y="1653324"/>
            <a:ext cx="5787225" cy="5889113"/>
          </a:xfrm>
          <a:prstGeom prst="rect">
            <a:avLst/>
          </a:prstGeom>
          <a:noFill/>
        </p:spPr>
        <p:txBody>
          <a:bodyPr wrap="none" rtlCol="0">
            <a:spAutoFit/>
          </a:bodyPr>
          <a:lstStyle/>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Introduction: The Astronomical Bet</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The Journey of a Single Query</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The Immense Environmental Footprint</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The Political and Economic Battleground</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Is This a Bubble Waiting to Burst?</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What Can We Do? Navigating the Shift</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2400" b="1" dirty="0">
                <a:solidFill>
                  <a:schemeClr val="bg1"/>
                </a:solidFill>
                <a:latin typeface="Times New Roman" panose="02020603050405020304" pitchFamily="18" charset="0"/>
                <a:cs typeface="Times New Roman" panose="02020603050405020304" pitchFamily="18" charset="0"/>
              </a:rPr>
              <a:t>- Conclusion: A Defining Gamble</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200000"/>
              </a:lnSpc>
            </a:pPr>
            <a:endParaRPr lang="ru-RU" sz="2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655B9A1-A7D6-04DF-68B7-D48D19697929}"/>
              </a:ext>
            </a:extLst>
          </p:cNvPr>
          <p:cNvSpPr txBox="1"/>
          <p:nvPr/>
        </p:nvSpPr>
        <p:spPr>
          <a:xfrm>
            <a:off x="621792" y="457200"/>
            <a:ext cx="2593595" cy="830997"/>
          </a:xfrm>
          <a:prstGeom prst="rect">
            <a:avLst/>
          </a:prstGeom>
          <a:noFill/>
        </p:spPr>
        <p:txBody>
          <a:bodyPr wrap="none" rtlCol="0">
            <a:spAutoFit/>
          </a:bodyPr>
          <a:lstStyle/>
          <a:p>
            <a:r>
              <a:rPr lang="en-US" sz="4800" dirty="0">
                <a:solidFill>
                  <a:schemeClr val="bg1"/>
                </a:solidFill>
                <a:latin typeface="Times New Roman" panose="02020603050405020304" pitchFamily="18" charset="0"/>
                <a:cs typeface="Times New Roman" panose="02020603050405020304" pitchFamily="18" charset="0"/>
              </a:rPr>
              <a:t>Contents:</a:t>
            </a:r>
            <a:endParaRPr lang="ru-RU" sz="4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171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792843"/>
            <a:ext cx="7556421" cy="2126337"/>
          </a:xfrm>
          <a:prstGeom prst="rect">
            <a:avLst/>
          </a:prstGeom>
          <a:noFill/>
          <a:ln/>
        </p:spPr>
        <p:txBody>
          <a:bodyPr wrap="square" lIns="0" tIns="0" rIns="0" bIns="0" rtlCol="0" anchor="t"/>
          <a:lstStyle/>
          <a:p>
            <a:pPr marL="0" indent="0" algn="l">
              <a:lnSpc>
                <a:spcPts val="5550"/>
              </a:lnSpc>
              <a:buNone/>
            </a:pPr>
            <a:r>
              <a:rPr lang="en-US" sz="2400" dirty="0">
                <a:solidFill>
                  <a:srgbClr val="EDEDE8"/>
                </a:solidFill>
                <a:latin typeface="Times New Roman" panose="02020603050405020304" pitchFamily="18" charset="0"/>
                <a:ea typeface="Tomorrow Semi Bold" pitchFamily="34" charset="-122"/>
                <a:cs typeface="Times New Roman" panose="02020603050405020304" pitchFamily="18" charset="0"/>
              </a:rPr>
              <a:t>The Engine of AI: Powering Our Future, Straining Our Planet</a:t>
            </a:r>
            <a:endParaRPr lang="en-US" sz="2400" dirty="0">
              <a:latin typeface="Times New Roman" panose="02020603050405020304" pitchFamily="18" charset="0"/>
              <a:cs typeface="Times New Roman" panose="02020603050405020304" pitchFamily="18" charset="0"/>
            </a:endParaRPr>
          </a:p>
        </p:txBody>
      </p:sp>
      <p:sp>
        <p:nvSpPr>
          <p:cNvPr id="4" name="Text 1"/>
          <p:cNvSpPr/>
          <p:nvPr/>
        </p:nvSpPr>
        <p:spPr>
          <a:xfrm>
            <a:off x="6280190" y="4259342"/>
            <a:ext cx="7556421" cy="2177415"/>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In the global race to dominate artificial intelligence, tech giants are making astronomical bets. Hundreds of billions of dollars are being poured into the construction of AI data centres—massive warehouses packed with computing hardware. But as this infrastructure boom accelerates, pressing questions about its viability, its massive energy appetite, and its societal impact are coming to the forefront.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654129" y="515422"/>
            <a:ext cx="7081004" cy="584121"/>
          </a:xfrm>
          <a:prstGeom prst="rect">
            <a:avLst/>
          </a:prstGeom>
          <a:noFill/>
          <a:ln/>
        </p:spPr>
        <p:txBody>
          <a:bodyPr wrap="none" lIns="0" tIns="0" rIns="0" bIns="0" rtlCol="0" anchor="t"/>
          <a:lstStyle/>
          <a:p>
            <a:pPr marL="0" indent="0" algn="l">
              <a:lnSpc>
                <a:spcPts val="4550"/>
              </a:lnSpc>
              <a:buNone/>
            </a:pPr>
            <a:r>
              <a:rPr lang="en-US" dirty="0">
                <a:solidFill>
                  <a:srgbClr val="EDEDE8"/>
                </a:solidFill>
                <a:latin typeface="Times New Roman" panose="02020603050405020304" pitchFamily="18" charset="0"/>
                <a:ea typeface="Tomorrow Semi Bold" pitchFamily="34" charset="-122"/>
                <a:cs typeface="Times New Roman" panose="02020603050405020304" pitchFamily="18" charset="0"/>
              </a:rPr>
              <a:t>The Journey of a Single Query</a:t>
            </a:r>
            <a:endParaRPr lang="en-US" dirty="0">
              <a:latin typeface="Times New Roman" panose="02020603050405020304" pitchFamily="18" charset="0"/>
              <a:cs typeface="Times New Roman" panose="02020603050405020304" pitchFamily="18" charset="0"/>
            </a:endParaRPr>
          </a:p>
        </p:txBody>
      </p:sp>
      <p:sp>
        <p:nvSpPr>
          <p:cNvPr id="3" name="Text 1"/>
          <p:cNvSpPr/>
          <p:nvPr/>
        </p:nvSpPr>
        <p:spPr>
          <a:xfrm>
            <a:off x="654129" y="1473279"/>
            <a:ext cx="13322141" cy="598170"/>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To truly grasp the scale of AI infrastructure, consider the intricate process that unfolds when you ask a simple question to an AI, such as "What should I make for dinner?" This seemingly instantaneous interaction triggers a complex chain of events across continents.</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654129" y="2281714"/>
            <a:ext cx="186809" cy="233601"/>
          </a:xfrm>
          <a:prstGeom prst="rect">
            <a:avLst/>
          </a:prstGeom>
          <a:noFill/>
          <a:ln/>
        </p:spPr>
        <p:txBody>
          <a:bodyPr wrap="non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Light" pitchFamily="34" charset="-122"/>
                <a:cs typeface="Times New Roman" panose="02020603050405020304" pitchFamily="18" charset="0"/>
              </a:rPr>
              <a:t>01</a:t>
            </a:r>
            <a:endParaRPr lang="en-US" dirty="0">
              <a:latin typeface="Times New Roman" panose="02020603050405020304" pitchFamily="18" charset="0"/>
              <a:cs typeface="Times New Roman" panose="02020603050405020304" pitchFamily="18" charset="0"/>
            </a:endParaRPr>
          </a:p>
        </p:txBody>
      </p:sp>
      <p:sp>
        <p:nvSpPr>
          <p:cNvPr id="5" name="Shape 3"/>
          <p:cNvSpPr/>
          <p:nvPr/>
        </p:nvSpPr>
        <p:spPr>
          <a:xfrm>
            <a:off x="654129" y="2576393"/>
            <a:ext cx="4316135" cy="22860"/>
          </a:xfrm>
          <a:prstGeom prst="rect">
            <a:avLst/>
          </a:prstGeom>
          <a:solidFill>
            <a:srgbClr val="E1E1DF"/>
          </a:solidFill>
          <a:ln/>
        </p:spPr>
      </p:sp>
      <p:sp>
        <p:nvSpPr>
          <p:cNvPr id="6" name="Text 4"/>
          <p:cNvSpPr/>
          <p:nvPr/>
        </p:nvSpPr>
        <p:spPr>
          <a:xfrm>
            <a:off x="654129" y="2715458"/>
            <a:ext cx="2336483" cy="291941"/>
          </a:xfrm>
          <a:prstGeom prst="rect">
            <a:avLst/>
          </a:prstGeom>
          <a:noFill/>
          <a:ln/>
        </p:spPr>
        <p:txBody>
          <a:bodyPr wrap="none" lIns="0" tIns="0" rIns="0" bIns="0" rtlCol="0" anchor="t"/>
          <a:lstStyle/>
          <a:p>
            <a:pPr marL="0" indent="0" algn="l">
              <a:lnSpc>
                <a:spcPts val="2250"/>
              </a:lnSpc>
              <a:buNone/>
            </a:pPr>
            <a:r>
              <a:rPr lang="en-US" dirty="0">
                <a:solidFill>
                  <a:srgbClr val="C9C9C0"/>
                </a:solidFill>
                <a:latin typeface="Times New Roman" panose="02020603050405020304" pitchFamily="18" charset="0"/>
                <a:ea typeface="Tomorrow Semi Bold" pitchFamily="34" charset="-122"/>
                <a:cs typeface="Times New Roman" panose="02020603050405020304" pitchFamily="18" charset="0"/>
              </a:rPr>
              <a:t>1. The Request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654129" y="3119438"/>
            <a:ext cx="4316135" cy="1196340"/>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Your query travels over the internet to the AI provider's servers, where it undergoes checks for user authentication and content moderation to ensure safety and compliance.</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157073" y="2281714"/>
            <a:ext cx="186809" cy="233601"/>
          </a:xfrm>
          <a:prstGeom prst="rect">
            <a:avLst/>
          </a:prstGeom>
          <a:noFill/>
          <a:ln/>
        </p:spPr>
        <p:txBody>
          <a:bodyPr wrap="non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Light" pitchFamily="34" charset="-122"/>
                <a:cs typeface="Times New Roman" panose="02020603050405020304" pitchFamily="18" charset="0"/>
              </a:rPr>
              <a:t>02</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5157073" y="2576393"/>
            <a:ext cx="4316135" cy="22860"/>
          </a:xfrm>
          <a:prstGeom prst="rect">
            <a:avLst/>
          </a:prstGeom>
          <a:solidFill>
            <a:srgbClr val="E1E1DF"/>
          </a:solidFill>
          <a:ln/>
        </p:spPr>
      </p:sp>
      <p:sp>
        <p:nvSpPr>
          <p:cNvPr id="10" name="Text 8"/>
          <p:cNvSpPr/>
          <p:nvPr/>
        </p:nvSpPr>
        <p:spPr>
          <a:xfrm>
            <a:off x="5157073" y="2715458"/>
            <a:ext cx="2336483" cy="291941"/>
          </a:xfrm>
          <a:prstGeom prst="rect">
            <a:avLst/>
          </a:prstGeom>
          <a:noFill/>
          <a:ln/>
        </p:spPr>
        <p:txBody>
          <a:bodyPr wrap="none" lIns="0" tIns="0" rIns="0" bIns="0" rtlCol="0" anchor="t"/>
          <a:lstStyle/>
          <a:p>
            <a:pPr marL="0" indent="0" algn="l">
              <a:lnSpc>
                <a:spcPts val="2250"/>
              </a:lnSpc>
              <a:buNone/>
            </a:pPr>
            <a:r>
              <a:rPr lang="en-US" dirty="0">
                <a:solidFill>
                  <a:srgbClr val="C9C9C0"/>
                </a:solidFill>
                <a:latin typeface="Times New Roman" panose="02020603050405020304" pitchFamily="18" charset="0"/>
                <a:ea typeface="Tomorrow Semi Bold" pitchFamily="34" charset="-122"/>
                <a:cs typeface="Times New Roman" panose="02020603050405020304" pitchFamily="18" charset="0"/>
              </a:rPr>
              <a:t>2. The Breakdown</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5157073" y="3119438"/>
            <a:ext cx="4316135" cy="1196340"/>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Your words are then meticulously broken down into smaller chunks of text, known as "tokens"—the fundamental units that AI models are designed to process and understand.</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9660017" y="2281714"/>
            <a:ext cx="186809" cy="233601"/>
          </a:xfrm>
          <a:prstGeom prst="rect">
            <a:avLst/>
          </a:prstGeom>
          <a:noFill/>
          <a:ln/>
        </p:spPr>
        <p:txBody>
          <a:bodyPr wrap="non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Light" pitchFamily="34" charset="-122"/>
                <a:cs typeface="Times New Roman" panose="02020603050405020304" pitchFamily="18" charset="0"/>
              </a:rPr>
              <a:t>03</a:t>
            </a:r>
            <a:endParaRPr lang="en-US" dirty="0">
              <a:latin typeface="Times New Roman" panose="02020603050405020304" pitchFamily="18" charset="0"/>
              <a:cs typeface="Times New Roman" panose="02020603050405020304" pitchFamily="18" charset="0"/>
            </a:endParaRPr>
          </a:p>
        </p:txBody>
      </p:sp>
      <p:sp>
        <p:nvSpPr>
          <p:cNvPr id="13" name="Shape 11"/>
          <p:cNvSpPr/>
          <p:nvPr/>
        </p:nvSpPr>
        <p:spPr>
          <a:xfrm>
            <a:off x="9660017" y="2576393"/>
            <a:ext cx="4316135" cy="22860"/>
          </a:xfrm>
          <a:prstGeom prst="rect">
            <a:avLst/>
          </a:prstGeom>
          <a:solidFill>
            <a:srgbClr val="E1E1DF"/>
          </a:solidFill>
          <a:ln/>
        </p:spPr>
      </p:sp>
      <p:sp>
        <p:nvSpPr>
          <p:cNvPr id="14" name="Text 12"/>
          <p:cNvSpPr/>
          <p:nvPr/>
        </p:nvSpPr>
        <p:spPr>
          <a:xfrm>
            <a:off x="9660017" y="2715458"/>
            <a:ext cx="2336483" cy="291941"/>
          </a:xfrm>
          <a:prstGeom prst="rect">
            <a:avLst/>
          </a:prstGeom>
          <a:noFill/>
          <a:ln/>
        </p:spPr>
        <p:txBody>
          <a:bodyPr wrap="none" lIns="0" tIns="0" rIns="0" bIns="0" rtlCol="0" anchor="t"/>
          <a:lstStyle/>
          <a:p>
            <a:pPr marL="0" indent="0" algn="l">
              <a:lnSpc>
                <a:spcPts val="2250"/>
              </a:lnSpc>
              <a:buNone/>
            </a:pPr>
            <a:r>
              <a:rPr lang="en-US" dirty="0">
                <a:solidFill>
                  <a:srgbClr val="C9C9C0"/>
                </a:solidFill>
                <a:latin typeface="Times New Roman" panose="02020603050405020304" pitchFamily="18" charset="0"/>
                <a:ea typeface="Tomorrow Semi Bold" pitchFamily="34" charset="-122"/>
                <a:cs typeface="Times New Roman" panose="02020603050405020304" pitchFamily="18" charset="0"/>
              </a:rPr>
              <a:t>3. The Hardware</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9660017" y="3119438"/>
            <a:ext cx="4316135" cy="2093595"/>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The processed request lands in a data centre, specifically targeting specialised hardware: Graphics Processing Units (GPUs). Unlike standard computer chips, GPUs excel at performing millions of calculations simultaneously, a process called parallel processing.</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54129" y="5539978"/>
            <a:ext cx="186809" cy="233601"/>
          </a:xfrm>
          <a:prstGeom prst="rect">
            <a:avLst/>
          </a:prstGeom>
          <a:noFill/>
          <a:ln/>
        </p:spPr>
        <p:txBody>
          <a:bodyPr wrap="non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Light" pitchFamily="34" charset="-122"/>
                <a:cs typeface="Times New Roman" panose="02020603050405020304" pitchFamily="18" charset="0"/>
              </a:rPr>
              <a:t>04</a:t>
            </a:r>
            <a:endParaRPr lang="en-US" dirty="0">
              <a:latin typeface="Times New Roman" panose="02020603050405020304" pitchFamily="18" charset="0"/>
              <a:cs typeface="Times New Roman" panose="02020603050405020304" pitchFamily="18" charset="0"/>
            </a:endParaRPr>
          </a:p>
        </p:txBody>
      </p:sp>
      <p:sp>
        <p:nvSpPr>
          <p:cNvPr id="17" name="Shape 15"/>
          <p:cNvSpPr/>
          <p:nvPr/>
        </p:nvSpPr>
        <p:spPr>
          <a:xfrm>
            <a:off x="654129" y="5834658"/>
            <a:ext cx="6567607" cy="22860"/>
          </a:xfrm>
          <a:prstGeom prst="rect">
            <a:avLst/>
          </a:prstGeom>
          <a:solidFill>
            <a:srgbClr val="E1E1DF"/>
          </a:solidFill>
          <a:ln/>
        </p:spPr>
      </p:sp>
      <p:sp>
        <p:nvSpPr>
          <p:cNvPr id="18" name="Text 16"/>
          <p:cNvSpPr/>
          <p:nvPr/>
        </p:nvSpPr>
        <p:spPr>
          <a:xfrm>
            <a:off x="654129" y="5973723"/>
            <a:ext cx="2336483" cy="291941"/>
          </a:xfrm>
          <a:prstGeom prst="rect">
            <a:avLst/>
          </a:prstGeom>
          <a:noFill/>
          <a:ln/>
        </p:spPr>
        <p:txBody>
          <a:bodyPr wrap="none" lIns="0" tIns="0" rIns="0" bIns="0" rtlCol="0" anchor="t"/>
          <a:lstStyle/>
          <a:p>
            <a:pPr marL="0" indent="0" algn="l">
              <a:lnSpc>
                <a:spcPts val="2250"/>
              </a:lnSpc>
              <a:buNone/>
            </a:pPr>
            <a:r>
              <a:rPr lang="en-US" dirty="0">
                <a:solidFill>
                  <a:srgbClr val="C9C9C0"/>
                </a:solidFill>
                <a:latin typeface="Times New Roman" panose="02020603050405020304" pitchFamily="18" charset="0"/>
                <a:ea typeface="Tomorrow Semi Bold" pitchFamily="34" charset="-122"/>
                <a:cs typeface="Times New Roman" panose="02020603050405020304" pitchFamily="18" charset="0"/>
              </a:rPr>
              <a:t>4. The "Inference"</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54129" y="6377702"/>
            <a:ext cx="6567607" cy="897255"/>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The AI model then begins its "inference time," predicting which token should come next, one after another, until it constructs a coherent and contextually relevant answer to your query.</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7408545" y="5539978"/>
            <a:ext cx="186809" cy="233601"/>
          </a:xfrm>
          <a:prstGeom prst="rect">
            <a:avLst/>
          </a:prstGeom>
          <a:noFill/>
          <a:ln/>
        </p:spPr>
        <p:txBody>
          <a:bodyPr wrap="non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Light" pitchFamily="34" charset="-122"/>
                <a:cs typeface="Times New Roman" panose="02020603050405020304" pitchFamily="18" charset="0"/>
              </a:rPr>
              <a:t>05</a:t>
            </a:r>
            <a:endParaRPr lang="en-US" dirty="0">
              <a:latin typeface="Times New Roman" panose="02020603050405020304" pitchFamily="18" charset="0"/>
              <a:cs typeface="Times New Roman" panose="02020603050405020304" pitchFamily="18" charset="0"/>
            </a:endParaRPr>
          </a:p>
        </p:txBody>
      </p:sp>
      <p:sp>
        <p:nvSpPr>
          <p:cNvPr id="21" name="Shape 19"/>
          <p:cNvSpPr/>
          <p:nvPr/>
        </p:nvSpPr>
        <p:spPr>
          <a:xfrm>
            <a:off x="7408545" y="5834658"/>
            <a:ext cx="6567607" cy="22860"/>
          </a:xfrm>
          <a:prstGeom prst="rect">
            <a:avLst/>
          </a:prstGeom>
          <a:solidFill>
            <a:srgbClr val="E1E1DF"/>
          </a:solidFill>
          <a:ln/>
        </p:spPr>
      </p:sp>
      <p:sp>
        <p:nvSpPr>
          <p:cNvPr id="22" name="Text 20"/>
          <p:cNvSpPr/>
          <p:nvPr/>
        </p:nvSpPr>
        <p:spPr>
          <a:xfrm>
            <a:off x="7408545" y="5973723"/>
            <a:ext cx="2336483" cy="291941"/>
          </a:xfrm>
          <a:prstGeom prst="rect">
            <a:avLst/>
          </a:prstGeom>
          <a:noFill/>
          <a:ln/>
        </p:spPr>
        <p:txBody>
          <a:bodyPr wrap="none" lIns="0" tIns="0" rIns="0" bIns="0" rtlCol="0" anchor="t"/>
          <a:lstStyle/>
          <a:p>
            <a:pPr marL="0" indent="0" algn="l">
              <a:lnSpc>
                <a:spcPts val="2250"/>
              </a:lnSpc>
              <a:buNone/>
            </a:pPr>
            <a:r>
              <a:rPr lang="en-US" dirty="0">
                <a:solidFill>
                  <a:srgbClr val="C9C9C0"/>
                </a:solidFill>
                <a:latin typeface="Times New Roman" panose="02020603050405020304" pitchFamily="18" charset="0"/>
                <a:ea typeface="Tomorrow Semi Bold" pitchFamily="34" charset="-122"/>
                <a:cs typeface="Times New Roman" panose="02020603050405020304" pitchFamily="18" charset="0"/>
              </a:rPr>
              <a:t>5. The Response</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7408545" y="6377702"/>
            <a:ext cx="6567607" cy="1196340"/>
          </a:xfrm>
          <a:prstGeom prst="rect">
            <a:avLst/>
          </a:prstGeom>
          <a:noFill/>
          <a:ln/>
        </p:spPr>
        <p:txBody>
          <a:bodyPr wrap="square" lIns="0" tIns="0" rIns="0" bIns="0" rtlCol="0" anchor="t"/>
          <a:lstStyle/>
          <a:p>
            <a:pPr marL="0" indent="0" algn="l">
              <a:lnSpc>
                <a:spcPts val="2350"/>
              </a:lnSpc>
              <a:buNone/>
            </a:pPr>
            <a:r>
              <a:rPr lang="en-US" dirty="0">
                <a:solidFill>
                  <a:srgbClr val="C9C9C0"/>
                </a:solidFill>
                <a:latin typeface="Times New Roman" panose="02020603050405020304" pitchFamily="18" charset="0"/>
                <a:ea typeface="Tomorrow" pitchFamily="34" charset="-122"/>
                <a:cs typeface="Times New Roman" panose="02020603050405020304" pitchFamily="18" charset="0"/>
              </a:rPr>
              <a:t>Finally, the completed answer is swiftly transmitted back through the vast network, appearing on your screen in a matter of seconds. This entire complex process is a marvel of modern engineering, yet it carries an immense cost.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chemeClr val="tx2">
            <a:lumMod val="5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282083"/>
            <a:ext cx="11156990"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imes New Roman" panose="02020603050405020304" pitchFamily="18" charset="0"/>
                <a:ea typeface="Tomorrow Semi Bold" pitchFamily="34" charset="-122"/>
                <a:cs typeface="Times New Roman" panose="02020603050405020304" pitchFamily="18" charset="0"/>
              </a:rPr>
              <a:t>The Immense Environmental Footprint</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5331023"/>
            <a:ext cx="13042821" cy="1451610"/>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The convenience and instantaneous nature of AI come with a significant and often hidden cost: immense energy consumption. Data centres are power-hungry facilities, demanding vast amounts of electricity not only to run their powerful GPUs but also for essential cooling systems, lighting, and network equipment. Their energy usage often fluctuates, spiking during peak query times and dipping during quieter periods.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1638" y="566976"/>
            <a:ext cx="10299740" cy="644366"/>
          </a:xfrm>
          <a:prstGeom prst="rect">
            <a:avLst/>
          </a:prstGeom>
          <a:noFill/>
          <a:ln/>
        </p:spPr>
        <p:txBody>
          <a:bodyPr wrap="none" lIns="0" tIns="0" rIns="0" bIns="0" rtlCol="0" anchor="t"/>
          <a:lstStyle/>
          <a:p>
            <a:pPr marL="0" indent="0" algn="l">
              <a:lnSpc>
                <a:spcPts val="5050"/>
              </a:lnSpc>
              <a:buNone/>
            </a:pPr>
            <a:r>
              <a:rPr lang="en-US" sz="4050" dirty="0">
                <a:solidFill>
                  <a:srgbClr val="EDEDE8"/>
                </a:solidFill>
                <a:latin typeface="Times New Roman" panose="02020603050405020304" pitchFamily="18" charset="0"/>
                <a:ea typeface="Tomorrow Semi Bold" pitchFamily="34" charset="-122"/>
                <a:cs typeface="Times New Roman" panose="02020603050405020304" pitchFamily="18" charset="0"/>
              </a:rPr>
              <a:t>Energy Dependency &amp; Opaque Impacts</a:t>
            </a:r>
            <a:endParaRPr lang="en-US" sz="4050" dirty="0">
              <a:latin typeface="Times New Roman" panose="02020603050405020304" pitchFamily="18" charset="0"/>
              <a:cs typeface="Times New Roman" panose="02020603050405020304" pitchFamily="18" charset="0"/>
            </a:endParaRPr>
          </a:p>
        </p:txBody>
      </p:sp>
      <p:sp>
        <p:nvSpPr>
          <p:cNvPr id="3" name="Text 1"/>
          <p:cNvSpPr/>
          <p:nvPr/>
        </p:nvSpPr>
        <p:spPr>
          <a:xfrm>
            <a:off x="721638" y="1706047"/>
            <a:ext cx="6342102" cy="1979533"/>
          </a:xfrm>
          <a:prstGeom prst="rect">
            <a:avLst/>
          </a:prstGeom>
          <a:noFill/>
          <a:ln/>
        </p:spPr>
        <p:txBody>
          <a:bodyPr wrap="square" lIns="0" tIns="0" rIns="0" bIns="0" rtlCol="0" anchor="t"/>
          <a:lstStyle/>
          <a:p>
            <a:pPr marL="0" indent="0" algn="l">
              <a:lnSpc>
                <a:spcPts val="2550"/>
              </a:lnSpc>
              <a:buNone/>
            </a:pPr>
            <a:r>
              <a:rPr lang="en-US" sz="2800" dirty="0">
                <a:solidFill>
                  <a:srgbClr val="C9C9C0"/>
                </a:solidFill>
                <a:latin typeface="Times New Roman" panose="02020603050405020304" pitchFamily="18" charset="0"/>
                <a:ea typeface="Tomorrow" pitchFamily="34" charset="-122"/>
                <a:cs typeface="Times New Roman" panose="02020603050405020304" pitchFamily="18" charset="0"/>
              </a:rPr>
              <a:t>The total environmental impact of these facilities is complex and frequently opaque. As climate and energy expert Molly Taft highlights, a data centre's carbon footprint is heavily dependent on the energy grid it's plugged into. A facility powered by renewable sources like solar or wind has a vastly lower impact than one reliant on fossil fuels.</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721638" y="5135768"/>
            <a:ext cx="6342102" cy="1319689"/>
          </a:xfrm>
          <a:prstGeom prst="rect">
            <a:avLst/>
          </a:prstGeom>
          <a:noFill/>
          <a:ln/>
        </p:spPr>
        <p:txBody>
          <a:bodyPr wrap="square" lIns="0" tIns="0" rIns="0" bIns="0" rtlCol="0" anchor="t"/>
          <a:lstStyle/>
          <a:p>
            <a:pPr marL="0" indent="0" algn="l">
              <a:lnSpc>
                <a:spcPts val="2550"/>
              </a:lnSpc>
              <a:buNone/>
            </a:pPr>
            <a:r>
              <a:rPr lang="en-US" sz="2800" dirty="0">
                <a:solidFill>
                  <a:srgbClr val="C9C9C0"/>
                </a:solidFill>
                <a:latin typeface="Times New Roman" panose="02020603050405020304" pitchFamily="18" charset="0"/>
                <a:ea typeface="Tomorrow" pitchFamily="34" charset="-122"/>
                <a:cs typeface="Times New Roman" panose="02020603050405020304" pitchFamily="18" charset="0"/>
              </a:rPr>
              <a:t>The scale of new projects is staggering. Meta’s planned “Hyperion” data centre in Louisiana, for instance, is projected to require approximately five gigawatts of power—roughly half the peak energy load of an entire city like New York.</a:t>
            </a:r>
            <a:endParaRPr lang="en-US" sz="28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8159496" y="1752481"/>
            <a:ext cx="6342102" cy="63421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chemeClr val="bg2">
            <a:lumMod val="10000"/>
          </a:schemeClr>
        </a:solidFill>
        <a:effectLst/>
      </p:bgPr>
    </p:bg>
    <p:spTree>
      <p:nvGrpSpPr>
        <p:cNvPr id="1" name=""/>
        <p:cNvGrpSpPr/>
        <p:nvPr/>
      </p:nvGrpSpPr>
      <p:grpSpPr>
        <a:xfrm>
          <a:off x="0" y="0"/>
          <a:ext cx="0" cy="0"/>
          <a:chOff x="0" y="0"/>
          <a:chExt cx="0" cy="0"/>
        </a:xfrm>
      </p:grpSpPr>
      <p:sp>
        <p:nvSpPr>
          <p:cNvPr id="2" name="Text 0"/>
          <p:cNvSpPr/>
          <p:nvPr/>
        </p:nvSpPr>
        <p:spPr>
          <a:xfrm>
            <a:off x="793790" y="1142167"/>
            <a:ext cx="8085653"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imes New Roman" panose="02020603050405020304" pitchFamily="18" charset="0"/>
                <a:ea typeface="Tomorrow Semi Bold" pitchFamily="34" charset="-122"/>
                <a:cs typeface="Times New Roman" panose="02020603050405020304" pitchFamily="18" charset="0"/>
              </a:rPr>
              <a:t>A Growing National Concern</a:t>
            </a:r>
            <a:endParaRPr lang="en-US" sz="445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304574"/>
            <a:ext cx="4196358" cy="680442"/>
          </a:xfrm>
          <a:prstGeom prst="roundRect">
            <a:avLst>
              <a:gd name="adj" fmla="val 480029"/>
            </a:avLst>
          </a:prstGeom>
          <a:solidFill>
            <a:srgbClr val="3C3C3A"/>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21888" y="2474595"/>
            <a:ext cx="340162" cy="340162"/>
          </a:xfrm>
          <a:prstGeom prst="rect">
            <a:avLst/>
          </a:prstGeom>
        </p:spPr>
      </p:pic>
      <p:sp>
        <p:nvSpPr>
          <p:cNvPr id="5" name="Text 2"/>
          <p:cNvSpPr/>
          <p:nvPr/>
        </p:nvSpPr>
        <p:spPr>
          <a:xfrm>
            <a:off x="1020604" y="3483593"/>
            <a:ext cx="3291959" cy="354330"/>
          </a:xfrm>
          <a:prstGeom prst="rect">
            <a:avLst/>
          </a:prstGeom>
          <a:noFill/>
          <a:ln/>
        </p:spPr>
        <p:txBody>
          <a:bodyPr wrap="none" lIns="0" tIns="0" rIns="0" bIns="0" rtlCol="0" anchor="t"/>
          <a:lstStyle/>
          <a:p>
            <a:pPr marL="0" indent="0" algn="l">
              <a:lnSpc>
                <a:spcPts val="275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Ireland's Consumption</a:t>
            </a: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1020604" y="3974011"/>
            <a:ext cx="3742730" cy="1451610"/>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In Ireland, data centres already consume over </a:t>
            </a:r>
            <a:r>
              <a:rPr lang="en-US" sz="2400" b="1" dirty="0">
                <a:solidFill>
                  <a:srgbClr val="C9C9C0"/>
                </a:solidFill>
                <a:latin typeface="Times New Roman" panose="02020603050405020304" pitchFamily="18" charset="0"/>
                <a:ea typeface="Tomorrow" pitchFamily="34" charset="-122"/>
                <a:cs typeface="Times New Roman" panose="02020603050405020304" pitchFamily="18" charset="0"/>
              </a:rPr>
              <a:t>20%</a:t>
            </a: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 of the country's total electricity, placing immense strain on national grids.</a:t>
            </a:r>
            <a:endParaRPr lang="en-US" sz="2400" dirty="0">
              <a:latin typeface="Times New Roman" panose="02020603050405020304" pitchFamily="18" charset="0"/>
              <a:cs typeface="Times New Roman" panose="02020603050405020304" pitchFamily="18" charset="0"/>
            </a:endParaRPr>
          </a:p>
        </p:txBody>
      </p:sp>
      <p:sp>
        <p:nvSpPr>
          <p:cNvPr id="7" name="Shape 4"/>
          <p:cNvSpPr/>
          <p:nvPr/>
        </p:nvSpPr>
        <p:spPr>
          <a:xfrm>
            <a:off x="5216962" y="2304574"/>
            <a:ext cx="4196358" cy="680442"/>
          </a:xfrm>
          <a:prstGeom prst="roundRect">
            <a:avLst>
              <a:gd name="adj" fmla="val 480029"/>
            </a:avLst>
          </a:prstGeom>
          <a:solidFill>
            <a:srgbClr val="3C3C3A"/>
          </a:solidFill>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45060" y="2474595"/>
            <a:ext cx="340162" cy="340162"/>
          </a:xfrm>
          <a:prstGeom prst="rect">
            <a:avLst/>
          </a:prstGeom>
        </p:spPr>
      </p:pic>
      <p:sp>
        <p:nvSpPr>
          <p:cNvPr id="9" name="Text 5"/>
          <p:cNvSpPr/>
          <p:nvPr/>
        </p:nvSpPr>
        <p:spPr>
          <a:xfrm>
            <a:off x="5443776" y="3483593"/>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Virginia's Surge</a:t>
            </a:r>
            <a:endParaRPr lang="en-US" sz="2400" dirty="0">
              <a:latin typeface="Times New Roman" panose="02020603050405020304" pitchFamily="18" charset="0"/>
              <a:cs typeface="Times New Roman" panose="02020603050405020304" pitchFamily="18" charset="0"/>
            </a:endParaRPr>
          </a:p>
        </p:txBody>
      </p:sp>
      <p:sp>
        <p:nvSpPr>
          <p:cNvPr id="10" name="Text 6"/>
          <p:cNvSpPr/>
          <p:nvPr/>
        </p:nvSpPr>
        <p:spPr>
          <a:xfrm>
            <a:off x="5443776" y="3974011"/>
            <a:ext cx="3742730" cy="1814513"/>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Virginia, a major hub for data centre development, is facing a similar surge in demand, prompting concerns about energy supply and grid stability.</a:t>
            </a:r>
            <a:endParaRPr lang="en-US" sz="2400" dirty="0">
              <a:latin typeface="Times New Roman" panose="02020603050405020304" pitchFamily="18" charset="0"/>
              <a:cs typeface="Times New Roman" panose="02020603050405020304" pitchFamily="18" charset="0"/>
            </a:endParaRPr>
          </a:p>
        </p:txBody>
      </p:sp>
      <p:sp>
        <p:nvSpPr>
          <p:cNvPr id="11" name="Shape 7"/>
          <p:cNvSpPr/>
          <p:nvPr/>
        </p:nvSpPr>
        <p:spPr>
          <a:xfrm>
            <a:off x="9640133" y="2304574"/>
            <a:ext cx="4196358" cy="680442"/>
          </a:xfrm>
          <a:prstGeom prst="roundRect">
            <a:avLst>
              <a:gd name="adj" fmla="val 480029"/>
            </a:avLst>
          </a:prstGeom>
          <a:solidFill>
            <a:srgbClr val="3C3C3A"/>
          </a:solidFill>
          <a:ln/>
        </p:spPr>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68232" y="2474595"/>
            <a:ext cx="340162" cy="340162"/>
          </a:xfrm>
          <a:prstGeom prst="rect">
            <a:avLst/>
          </a:prstGeom>
        </p:spPr>
      </p:pic>
      <p:sp>
        <p:nvSpPr>
          <p:cNvPr id="13" name="Text 8"/>
          <p:cNvSpPr/>
          <p:nvPr/>
        </p:nvSpPr>
        <p:spPr>
          <a:xfrm>
            <a:off x="9866948" y="3483593"/>
            <a:ext cx="3705106" cy="354330"/>
          </a:xfrm>
          <a:prstGeom prst="rect">
            <a:avLst/>
          </a:prstGeom>
          <a:noFill/>
          <a:ln/>
        </p:spPr>
        <p:txBody>
          <a:bodyPr wrap="none" lIns="0" tIns="0" rIns="0" bIns="0" rtlCol="0" anchor="t"/>
          <a:lstStyle/>
          <a:p>
            <a:pPr marL="0" indent="0" algn="l">
              <a:lnSpc>
                <a:spcPts val="275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Underreported Emissions</a:t>
            </a:r>
            <a:endParaRPr lang="en-US" sz="2400" dirty="0">
              <a:latin typeface="Times New Roman" panose="02020603050405020304" pitchFamily="18" charset="0"/>
              <a:cs typeface="Times New Roman" panose="02020603050405020304" pitchFamily="18" charset="0"/>
            </a:endParaRPr>
          </a:p>
        </p:txBody>
      </p:sp>
      <p:sp>
        <p:nvSpPr>
          <p:cNvPr id="14" name="Text 9"/>
          <p:cNvSpPr/>
          <p:nvPr/>
        </p:nvSpPr>
        <p:spPr>
          <a:xfrm>
            <a:off x="9866948" y="3974011"/>
            <a:ext cx="3742730" cy="2177415"/>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Furthermore, the energy figures reported by companies often only cover direct power usage, </a:t>
            </a:r>
            <a:r>
              <a:rPr lang="en-US" sz="2400" b="1" dirty="0">
                <a:solidFill>
                  <a:srgbClr val="C9C9C0"/>
                </a:solidFill>
                <a:latin typeface="Times New Roman" panose="02020603050405020304" pitchFamily="18" charset="0"/>
                <a:ea typeface="Tomorrow" pitchFamily="34" charset="-122"/>
                <a:cs typeface="Times New Roman" panose="02020603050405020304" pitchFamily="18" charset="0"/>
              </a:rPr>
              <a:t>excluding the "embodied emissions"</a:t>
            </a: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 from manufacturing and transporting hardware.</a:t>
            </a:r>
            <a:endParaRPr lang="en-US" sz="2400" dirty="0">
              <a:latin typeface="Times New Roman" panose="02020603050405020304" pitchFamily="18" charset="0"/>
              <a:cs typeface="Times New Roman" panose="02020603050405020304" pitchFamily="18" charset="0"/>
            </a:endParaRPr>
          </a:p>
        </p:txBody>
      </p:sp>
      <p:sp>
        <p:nvSpPr>
          <p:cNvPr id="15" name="Text 10"/>
          <p:cNvSpPr/>
          <p:nvPr/>
        </p:nvSpPr>
        <p:spPr>
          <a:xfrm>
            <a:off x="793790" y="6785050"/>
            <a:ext cx="13042821" cy="725805"/>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Experts like Sasha Luccioni, climate lead at Hugging Face, have criticised the industry's lack of transparency, calling for standardised, verifiable efficiency metrics to truly understand the environmental cost.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8624531" y="3098839"/>
            <a:ext cx="5877853" cy="5023152"/>
          </a:xfrm>
          <a:prstGeom prst="rect">
            <a:avLst/>
          </a:prstGeom>
        </p:spPr>
      </p:pic>
      <p:sp>
        <p:nvSpPr>
          <p:cNvPr id="3" name="Text 0"/>
          <p:cNvSpPr/>
          <p:nvPr/>
        </p:nvSpPr>
        <p:spPr>
          <a:xfrm>
            <a:off x="793790" y="23286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imes New Roman" panose="02020603050405020304" pitchFamily="18" charset="0"/>
                <a:ea typeface="Tomorrow Semi Bold" pitchFamily="34" charset="-122"/>
                <a:cs typeface="Times New Roman" panose="02020603050405020304" pitchFamily="18" charset="0"/>
              </a:rPr>
              <a:t>The Political and Economic Battleground</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4086344"/>
            <a:ext cx="7556421" cy="1814513"/>
          </a:xfrm>
          <a:prstGeom prst="rect">
            <a:avLst/>
          </a:prstGeom>
          <a:noFill/>
          <a:ln/>
        </p:spPr>
        <p:txBody>
          <a:bodyPr wrap="square" lIns="0" tIns="0" rIns="0" bIns="0" rtlCol="0" anchor="t"/>
          <a:lstStyle/>
          <a:p>
            <a:pPr marL="0" indent="0" algn="l">
              <a:lnSpc>
                <a:spcPts val="2850"/>
              </a:lnSpc>
              <a:buNone/>
            </a:pPr>
            <a:r>
              <a:rPr lang="en-US" sz="2800" dirty="0">
                <a:solidFill>
                  <a:srgbClr val="C9C9C0"/>
                </a:solidFill>
                <a:latin typeface="Times New Roman" panose="02020603050405020304" pitchFamily="18" charset="0"/>
                <a:ea typeface="Tomorrow" pitchFamily="34" charset="-122"/>
                <a:cs typeface="Times New Roman" panose="02020603050405020304" pitchFamily="18" charset="0"/>
              </a:rPr>
              <a:t>The data centre boom has ignited a fierce political struggle, leading to an unlikely alignment of interests. </a:t>
            </a:r>
          </a:p>
          <a:p>
            <a:pPr marL="0" indent="0" algn="l">
              <a:lnSpc>
                <a:spcPts val="2850"/>
              </a:lnSpc>
              <a:buNone/>
            </a:pPr>
            <a:endParaRPr lang="en-US" sz="2800" dirty="0">
              <a:solidFill>
                <a:srgbClr val="C9C9C0"/>
              </a:solidFill>
              <a:latin typeface="Times New Roman" panose="02020603050405020304" pitchFamily="18" charset="0"/>
              <a:ea typeface="Tomorrow" pitchFamily="34" charset="-122"/>
              <a:cs typeface="Times New Roman" panose="02020603050405020304" pitchFamily="18" charset="0"/>
            </a:endParaRPr>
          </a:p>
          <a:p>
            <a:pPr marL="0" indent="0" algn="l">
              <a:lnSpc>
                <a:spcPts val="2850"/>
              </a:lnSpc>
              <a:buNone/>
            </a:pPr>
            <a:r>
              <a:rPr lang="en-US" sz="2800" dirty="0">
                <a:solidFill>
                  <a:srgbClr val="C9C9C0"/>
                </a:solidFill>
                <a:latin typeface="Times New Roman" panose="02020603050405020304" pitchFamily="18" charset="0"/>
                <a:ea typeface="Tomorrow" pitchFamily="34" charset="-122"/>
                <a:cs typeface="Times New Roman" panose="02020603050405020304" pitchFamily="18" charset="0"/>
              </a:rPr>
              <a:t>On one side, there is strong federal support for building an "American AI empire," often framed as a national priority, pushing for expansion powered by traditional energy sources like oil, gas, and nuclear.</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chemeClr val="bg2">
            <a:lumMod val="10000"/>
          </a:schemeClr>
        </a:solidFill>
        <a:effectLst/>
      </p:bgPr>
    </p:bg>
    <p:spTree>
      <p:nvGrpSpPr>
        <p:cNvPr id="1" name=""/>
        <p:cNvGrpSpPr/>
        <p:nvPr/>
      </p:nvGrpSpPr>
      <p:grpSpPr>
        <a:xfrm>
          <a:off x="0" y="0"/>
          <a:ext cx="0" cy="0"/>
          <a:chOff x="0" y="0"/>
          <a:chExt cx="0" cy="0"/>
        </a:xfrm>
      </p:grpSpPr>
      <p:sp>
        <p:nvSpPr>
          <p:cNvPr id="2" name="Text 0"/>
          <p:cNvSpPr/>
          <p:nvPr/>
        </p:nvSpPr>
        <p:spPr>
          <a:xfrm>
            <a:off x="721638" y="566976"/>
            <a:ext cx="9386411" cy="644366"/>
          </a:xfrm>
          <a:prstGeom prst="rect">
            <a:avLst/>
          </a:prstGeom>
          <a:noFill/>
          <a:ln/>
        </p:spPr>
        <p:txBody>
          <a:bodyPr wrap="none" lIns="0" tIns="0" rIns="0" bIns="0" rtlCol="0" anchor="t"/>
          <a:lstStyle/>
          <a:p>
            <a:pPr marL="0" indent="0" algn="l">
              <a:lnSpc>
                <a:spcPts val="5050"/>
              </a:lnSpc>
              <a:buNone/>
            </a:pPr>
            <a:r>
              <a:rPr lang="en-US" sz="4050" dirty="0">
                <a:solidFill>
                  <a:srgbClr val="EDEDE8"/>
                </a:solidFill>
                <a:latin typeface="Times New Roman" panose="02020603050405020304" pitchFamily="18" charset="0"/>
                <a:ea typeface="Tomorrow Semi Bold" pitchFamily="34" charset="-122"/>
                <a:cs typeface="Times New Roman" panose="02020603050405020304" pitchFamily="18" charset="0"/>
              </a:rPr>
              <a:t>Local Pushback &amp; Unlikely Alliances</a:t>
            </a:r>
            <a:endParaRPr lang="en-US" sz="4050" dirty="0">
              <a:latin typeface="Times New Roman" panose="02020603050405020304" pitchFamily="18" charset="0"/>
              <a:cs typeface="Times New Roman" panose="02020603050405020304" pitchFamily="18" charset="0"/>
            </a:endParaRPr>
          </a:p>
        </p:txBody>
      </p:sp>
      <p:pic>
        <p:nvPicPr>
          <p:cNvPr id="3" name="Image 0"/>
          <p:cNvPicPr>
            <a:picLocks noChangeAspect="1"/>
          </p:cNvPicPr>
          <p:nvPr/>
        </p:nvPicPr>
        <p:blipFill>
          <a:blip r:embed="rId3"/>
          <a:srcRect/>
          <a:stretch/>
        </p:blipFill>
        <p:spPr>
          <a:xfrm>
            <a:off x="721638" y="1706047"/>
            <a:ext cx="6342102" cy="5329814"/>
          </a:xfrm>
          <a:prstGeom prst="rect">
            <a:avLst/>
          </a:prstGeom>
        </p:spPr>
      </p:pic>
      <p:sp>
        <p:nvSpPr>
          <p:cNvPr id="4" name="Text 1"/>
          <p:cNvSpPr/>
          <p:nvPr/>
        </p:nvSpPr>
        <p:spPr>
          <a:xfrm>
            <a:off x="7574280" y="1706047"/>
            <a:ext cx="6342102" cy="1319689"/>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On the other side, grassroots opposition is growing rapidly in local communities. Concerns range from fears of skyrocketing electricity rates and excessive water usage for cooling to noise pollution and diminished air quality.</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7574280" y="3603843"/>
            <a:ext cx="6342102" cy="1319689"/>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A notable example occurred in Memphis, where Elon Musk's xAI installed unpermitted gas turbines in a majority-Black community already burdened with pollution. The local pushback was swift and powerful, showcasing the rising public scrutiny.</a:t>
            </a: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7574280" y="5743118"/>
            <a:ext cx="6342102" cy="1319689"/>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This contrast has even brought together unlikely political allies, from progressive environmental activists to figures like Marjorie Taylor Greene, who has publicly expressed fears about AI, comparing it to the fictional "Skynet."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7530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imes New Roman" panose="02020603050405020304" pitchFamily="18" charset="0"/>
                <a:ea typeface="Tomorrow Semi Bold" pitchFamily="34" charset="-122"/>
                <a:cs typeface="Times New Roman" panose="02020603050405020304" pitchFamily="18" charset="0"/>
              </a:rPr>
              <a:t>Is This an AI Bubble Waiting to Burst?</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6280190" y="3233023"/>
            <a:ext cx="7556421" cy="1088708"/>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With such massive investment, a critical question remains: is this expansion sustainable, or is it an AI bubble? The fundamental issue is a potential mismatch between supply and demand.</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6280190" y="4881682"/>
            <a:ext cx="7556421" cy="2177415"/>
          </a:xfrm>
          <a:prstGeom prst="rect">
            <a:avLst/>
          </a:prstGeom>
          <a:noFill/>
          <a:ln/>
        </p:spPr>
        <p:txBody>
          <a:bodyPr wrap="square" lIns="0" tIns="0" rIns="0" bIns="0" rtlCol="0" anchor="t"/>
          <a:lstStyle/>
          <a:p>
            <a:pPr marL="0" indent="0" algn="l">
              <a:lnSpc>
                <a:spcPts val="28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Tech companies are investing hundreds of billions in infrastructure under the assumption that consumer and enterprise demand for AI will continue to scale infinitely. However, current revenue, particularly from everyday consumers, has not yet caught up to the level of investment. Much of the income for AI companies currently comes from enterprise developers, not the general public.</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chemeClr val="bg2">
            <a:lumMod val="10000"/>
          </a:schemeClr>
        </a:solidFill>
        <a:effectLst/>
      </p:bgPr>
    </p:bg>
    <p:spTree>
      <p:nvGrpSpPr>
        <p:cNvPr id="1" name=""/>
        <p:cNvGrpSpPr/>
        <p:nvPr/>
      </p:nvGrpSpPr>
      <p:grpSpPr>
        <a:xfrm>
          <a:off x="0" y="0"/>
          <a:ext cx="0" cy="0"/>
          <a:chOff x="0" y="0"/>
          <a:chExt cx="0" cy="0"/>
        </a:xfrm>
      </p:grpSpPr>
      <p:sp>
        <p:nvSpPr>
          <p:cNvPr id="2" name="Text 0"/>
          <p:cNvSpPr/>
          <p:nvPr/>
        </p:nvSpPr>
        <p:spPr>
          <a:xfrm>
            <a:off x="717471" y="668893"/>
            <a:ext cx="13195459" cy="1281351"/>
          </a:xfrm>
          <a:prstGeom prst="rect">
            <a:avLst/>
          </a:prstGeom>
          <a:noFill/>
          <a:ln/>
        </p:spPr>
        <p:txBody>
          <a:bodyPr wrap="square" lIns="0" tIns="0" rIns="0" bIns="0" rtlCol="0" anchor="t"/>
          <a:lstStyle/>
          <a:p>
            <a:pPr marL="0" indent="0" algn="l">
              <a:lnSpc>
                <a:spcPts val="5000"/>
              </a:lnSpc>
              <a:buNone/>
            </a:pPr>
            <a:r>
              <a:rPr lang="en-US" sz="4000" dirty="0">
                <a:solidFill>
                  <a:srgbClr val="EDEDE8"/>
                </a:solidFill>
                <a:latin typeface="Times New Roman" panose="02020603050405020304" pitchFamily="18" charset="0"/>
                <a:ea typeface="Tomorrow Semi Bold" pitchFamily="34" charset="-122"/>
                <a:cs typeface="Times New Roman" panose="02020603050405020304" pitchFamily="18" charset="0"/>
              </a:rPr>
              <a:t>Technological Obsolescence &amp; Emerging Alternatives</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717471" y="2360176"/>
            <a:ext cx="6495217" cy="2497812"/>
          </a:xfrm>
          <a:prstGeom prst="roundRect">
            <a:avLst>
              <a:gd name="adj" fmla="val 1231"/>
            </a:avLst>
          </a:prstGeom>
          <a:solidFill>
            <a:srgbClr val="1D1D1B"/>
          </a:solidFill>
          <a:ln w="22860">
            <a:solidFill>
              <a:srgbClr val="555553"/>
            </a:solidFill>
            <a:prstDash val="solid"/>
          </a:ln>
        </p:spPr>
      </p:sp>
      <p:sp>
        <p:nvSpPr>
          <p:cNvPr id="4" name="Shape 2"/>
          <p:cNvSpPr/>
          <p:nvPr/>
        </p:nvSpPr>
        <p:spPr>
          <a:xfrm>
            <a:off x="740331" y="2383036"/>
            <a:ext cx="6449497" cy="614958"/>
          </a:xfrm>
          <a:prstGeom prst="roundRect">
            <a:avLst>
              <a:gd name="adj" fmla="val 540"/>
            </a:avLst>
          </a:prstGeom>
          <a:solidFill>
            <a:srgbClr val="3C3C3A"/>
          </a:solidFill>
          <a:ln/>
        </p:spPr>
      </p:sp>
      <p:sp>
        <p:nvSpPr>
          <p:cNvPr id="5" name="Text 3"/>
          <p:cNvSpPr/>
          <p:nvPr/>
        </p:nvSpPr>
        <p:spPr>
          <a:xfrm>
            <a:off x="945237" y="2576857"/>
            <a:ext cx="2761893" cy="320278"/>
          </a:xfrm>
          <a:prstGeom prst="rect">
            <a:avLst/>
          </a:prstGeom>
          <a:noFill/>
          <a:ln/>
        </p:spPr>
        <p:txBody>
          <a:bodyPr wrap="none" lIns="0" tIns="0" rIns="0" bIns="0" rtlCol="0" anchor="t"/>
          <a:lstStyle/>
          <a:p>
            <a:pPr marL="0" indent="0" algn="l">
              <a:lnSpc>
                <a:spcPts val="250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Risk of Obsolescence</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945237" y="3246295"/>
            <a:ext cx="6039683" cy="984052"/>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The current model of building ever-larger models requiring more powerful GPUs may not last. Today's massive, fixed investments could become less competitive.</a:t>
            </a:r>
            <a:endParaRPr lang="en-US" sz="2400" dirty="0">
              <a:latin typeface="Times New Roman" panose="02020603050405020304" pitchFamily="18" charset="0"/>
              <a:cs typeface="Times New Roman" panose="02020603050405020304" pitchFamily="18" charset="0"/>
            </a:endParaRPr>
          </a:p>
        </p:txBody>
      </p:sp>
      <p:sp>
        <p:nvSpPr>
          <p:cNvPr id="7" name="Shape 5"/>
          <p:cNvSpPr/>
          <p:nvPr/>
        </p:nvSpPr>
        <p:spPr>
          <a:xfrm>
            <a:off x="7417594" y="2360176"/>
            <a:ext cx="6495336" cy="2497812"/>
          </a:xfrm>
          <a:prstGeom prst="roundRect">
            <a:avLst>
              <a:gd name="adj" fmla="val 1231"/>
            </a:avLst>
          </a:prstGeom>
          <a:solidFill>
            <a:srgbClr val="1D1D1B"/>
          </a:solidFill>
          <a:ln w="22860">
            <a:solidFill>
              <a:srgbClr val="555553"/>
            </a:solidFill>
            <a:prstDash val="solid"/>
          </a:ln>
        </p:spPr>
      </p:sp>
      <p:sp>
        <p:nvSpPr>
          <p:cNvPr id="8" name="Shape 6"/>
          <p:cNvSpPr/>
          <p:nvPr/>
        </p:nvSpPr>
        <p:spPr>
          <a:xfrm>
            <a:off x="7440454" y="2383036"/>
            <a:ext cx="6449616" cy="614958"/>
          </a:xfrm>
          <a:prstGeom prst="roundRect">
            <a:avLst>
              <a:gd name="adj" fmla="val 540"/>
            </a:avLst>
          </a:prstGeom>
          <a:solidFill>
            <a:srgbClr val="3C3C3A"/>
          </a:solidFill>
          <a:ln/>
        </p:spPr>
      </p:sp>
      <p:sp>
        <p:nvSpPr>
          <p:cNvPr id="9" name="Text 7"/>
          <p:cNvSpPr/>
          <p:nvPr/>
        </p:nvSpPr>
        <p:spPr>
          <a:xfrm>
            <a:off x="7645360" y="2604210"/>
            <a:ext cx="3220522" cy="320278"/>
          </a:xfrm>
          <a:prstGeom prst="rect">
            <a:avLst/>
          </a:prstGeom>
          <a:noFill/>
          <a:ln/>
        </p:spPr>
        <p:txBody>
          <a:bodyPr wrap="none" lIns="0" tIns="0" rIns="0" bIns="0" rtlCol="0" anchor="t"/>
          <a:lstStyle/>
          <a:p>
            <a:pPr marL="0" indent="0" algn="l">
              <a:lnSpc>
                <a:spcPts val="250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Smaller, Efficient Models</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7645360" y="3285197"/>
            <a:ext cx="6039803" cy="984052"/>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Research into smaller, more efficient models and novel chip designs offers a pathway to less resource-intensive AI, challenging the scale-at-all-costs approach.</a:t>
            </a:r>
            <a:endParaRPr lang="en-US" sz="2400" dirty="0">
              <a:latin typeface="Times New Roman" panose="02020603050405020304" pitchFamily="18" charset="0"/>
              <a:cs typeface="Times New Roman" panose="02020603050405020304" pitchFamily="18" charset="0"/>
            </a:endParaRPr>
          </a:p>
        </p:txBody>
      </p:sp>
      <p:sp>
        <p:nvSpPr>
          <p:cNvPr id="11" name="Shape 9"/>
          <p:cNvSpPr/>
          <p:nvPr/>
        </p:nvSpPr>
        <p:spPr>
          <a:xfrm>
            <a:off x="717471" y="5062895"/>
            <a:ext cx="6495217" cy="2497812"/>
          </a:xfrm>
          <a:prstGeom prst="roundRect">
            <a:avLst>
              <a:gd name="adj" fmla="val 1231"/>
            </a:avLst>
          </a:prstGeom>
          <a:solidFill>
            <a:srgbClr val="1D1D1B"/>
          </a:solidFill>
          <a:ln w="22860">
            <a:solidFill>
              <a:srgbClr val="555553"/>
            </a:solidFill>
            <a:prstDash val="solid"/>
          </a:ln>
        </p:spPr>
      </p:sp>
      <p:sp>
        <p:nvSpPr>
          <p:cNvPr id="12" name="Shape 10"/>
          <p:cNvSpPr/>
          <p:nvPr/>
        </p:nvSpPr>
        <p:spPr>
          <a:xfrm>
            <a:off x="740331" y="5085755"/>
            <a:ext cx="6449497" cy="614958"/>
          </a:xfrm>
          <a:prstGeom prst="roundRect">
            <a:avLst>
              <a:gd name="adj" fmla="val 540"/>
            </a:avLst>
          </a:prstGeom>
          <a:solidFill>
            <a:srgbClr val="3C3C3A"/>
          </a:solidFill>
          <a:ln/>
        </p:spPr>
      </p:sp>
      <p:sp>
        <p:nvSpPr>
          <p:cNvPr id="13" name="Text 11"/>
          <p:cNvSpPr/>
          <p:nvPr/>
        </p:nvSpPr>
        <p:spPr>
          <a:xfrm>
            <a:off x="945237" y="5267920"/>
            <a:ext cx="2935605" cy="320278"/>
          </a:xfrm>
          <a:prstGeom prst="rect">
            <a:avLst/>
          </a:prstGeom>
          <a:noFill/>
          <a:ln/>
        </p:spPr>
        <p:txBody>
          <a:bodyPr wrap="none" lIns="0" tIns="0" rIns="0" bIns="0" rtlCol="0" anchor="t"/>
          <a:lstStyle/>
          <a:p>
            <a:pPr marL="0" indent="0" algn="l">
              <a:lnSpc>
                <a:spcPts val="250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Alternative Computing</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945237" y="5856863"/>
            <a:ext cx="6039683" cy="984052"/>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Alternative computing methods like quantum computing could fundamentally alter the landscape, rendering current infrastructure paradigms obsolete.</a:t>
            </a:r>
            <a:endParaRPr lang="en-US" sz="2400" dirty="0">
              <a:latin typeface="Times New Roman" panose="02020603050405020304" pitchFamily="18" charset="0"/>
              <a:cs typeface="Times New Roman" panose="02020603050405020304" pitchFamily="18" charset="0"/>
            </a:endParaRPr>
          </a:p>
        </p:txBody>
      </p:sp>
      <p:sp>
        <p:nvSpPr>
          <p:cNvPr id="15" name="Shape 13"/>
          <p:cNvSpPr/>
          <p:nvPr/>
        </p:nvSpPr>
        <p:spPr>
          <a:xfrm>
            <a:off x="7417594" y="5062895"/>
            <a:ext cx="6495336" cy="2497812"/>
          </a:xfrm>
          <a:prstGeom prst="roundRect">
            <a:avLst>
              <a:gd name="adj" fmla="val 1231"/>
            </a:avLst>
          </a:prstGeom>
          <a:solidFill>
            <a:srgbClr val="1D1D1B"/>
          </a:solidFill>
          <a:ln w="22860">
            <a:solidFill>
              <a:srgbClr val="555553"/>
            </a:solidFill>
            <a:prstDash val="solid"/>
          </a:ln>
        </p:spPr>
      </p:sp>
      <p:sp>
        <p:nvSpPr>
          <p:cNvPr id="16" name="Shape 14"/>
          <p:cNvSpPr/>
          <p:nvPr/>
        </p:nvSpPr>
        <p:spPr>
          <a:xfrm>
            <a:off x="7440454" y="5085755"/>
            <a:ext cx="6449616" cy="614958"/>
          </a:xfrm>
          <a:prstGeom prst="roundRect">
            <a:avLst>
              <a:gd name="adj" fmla="val 540"/>
            </a:avLst>
          </a:prstGeom>
          <a:solidFill>
            <a:srgbClr val="3C3C3A"/>
          </a:solidFill>
          <a:ln/>
        </p:spPr>
      </p:sp>
      <p:sp>
        <p:nvSpPr>
          <p:cNvPr id="17" name="Text 15"/>
          <p:cNvSpPr/>
          <p:nvPr/>
        </p:nvSpPr>
        <p:spPr>
          <a:xfrm>
            <a:off x="7775019" y="5293650"/>
            <a:ext cx="2890242" cy="320278"/>
          </a:xfrm>
          <a:prstGeom prst="rect">
            <a:avLst/>
          </a:prstGeom>
          <a:noFill/>
          <a:ln/>
        </p:spPr>
        <p:txBody>
          <a:bodyPr wrap="none" lIns="0" tIns="0" rIns="0" bIns="0" rtlCol="0" anchor="t"/>
          <a:lstStyle/>
          <a:p>
            <a:pPr marL="0" indent="0" algn="l">
              <a:lnSpc>
                <a:spcPts val="2500"/>
              </a:lnSpc>
              <a:buNone/>
            </a:pPr>
            <a:r>
              <a:rPr lang="en-US" sz="2400" dirty="0">
                <a:solidFill>
                  <a:srgbClr val="C9C9C0"/>
                </a:solidFill>
                <a:latin typeface="Times New Roman" panose="02020603050405020304" pitchFamily="18" charset="0"/>
                <a:ea typeface="Tomorrow Semi Bold" pitchFamily="34" charset="-122"/>
                <a:cs typeface="Times New Roman" panose="02020603050405020304" pitchFamily="18" charset="0"/>
              </a:rPr>
              <a:t>Low-Cost Competition</a:t>
            </a:r>
            <a:endParaRPr lang="en-US" sz="2400" dirty="0">
              <a:latin typeface="Times New Roman" panose="02020603050405020304" pitchFamily="18" charset="0"/>
              <a:cs typeface="Times New Roman" panose="02020603050405020304" pitchFamily="18" charset="0"/>
            </a:endParaRPr>
          </a:p>
        </p:txBody>
      </p:sp>
      <p:sp>
        <p:nvSpPr>
          <p:cNvPr id="18" name="Text 16"/>
          <p:cNvSpPr/>
          <p:nvPr/>
        </p:nvSpPr>
        <p:spPr>
          <a:xfrm>
            <a:off x="7645360" y="5905620"/>
            <a:ext cx="6039803" cy="984052"/>
          </a:xfrm>
          <a:prstGeom prst="rect">
            <a:avLst/>
          </a:prstGeom>
          <a:noFill/>
          <a:ln/>
        </p:spPr>
        <p:txBody>
          <a:bodyPr wrap="square" lIns="0" tIns="0" rIns="0" bIns="0" rtlCol="0" anchor="t"/>
          <a:lstStyle/>
          <a:p>
            <a:pPr marL="0" indent="0" algn="l">
              <a:lnSpc>
                <a:spcPts val="2550"/>
              </a:lnSpc>
              <a:buNone/>
            </a:pPr>
            <a:r>
              <a:rPr lang="en-US" sz="2400" dirty="0">
                <a:solidFill>
                  <a:srgbClr val="C9C9C0"/>
                </a:solidFill>
                <a:latin typeface="Times New Roman" panose="02020603050405020304" pitchFamily="18" charset="0"/>
                <a:ea typeface="Tomorrow" pitchFamily="34" charset="-122"/>
                <a:cs typeface="Times New Roman" panose="02020603050405020304" pitchFamily="18" charset="0"/>
              </a:rPr>
              <a:t>The emergence of low-cost models, such as DeepSeek from China, serves as an early warning that the path to advanced AI may not solely be through sheer computational size.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chemeClr val="bg2">
            <a:lumMod val="10000"/>
          </a:schemeClr>
        </a:solidFill>
        <a:effectLst/>
      </p:bgPr>
    </p:bg>
    <p:spTree>
      <p:nvGrpSpPr>
        <p:cNvPr id="1" name=""/>
        <p:cNvGrpSpPr/>
        <p:nvPr/>
      </p:nvGrpSpPr>
      <p:grpSpPr>
        <a:xfrm>
          <a:off x="0" y="0"/>
          <a:ext cx="0" cy="0"/>
          <a:chOff x="0" y="0"/>
          <a:chExt cx="0" cy="0"/>
        </a:xfrm>
      </p:grpSpPr>
      <p:sp>
        <p:nvSpPr>
          <p:cNvPr id="2" name="Text 0"/>
          <p:cNvSpPr/>
          <p:nvPr/>
        </p:nvSpPr>
        <p:spPr>
          <a:xfrm>
            <a:off x="716756" y="725567"/>
            <a:ext cx="5120045" cy="639961"/>
          </a:xfrm>
          <a:prstGeom prst="rect">
            <a:avLst/>
          </a:prstGeom>
          <a:noFill/>
          <a:ln/>
        </p:spPr>
        <p:txBody>
          <a:bodyPr wrap="none" lIns="0" tIns="0" rIns="0" bIns="0" rtlCol="0" anchor="t"/>
          <a:lstStyle/>
          <a:p>
            <a:pPr marL="0" indent="0" algn="l">
              <a:lnSpc>
                <a:spcPts val="5000"/>
              </a:lnSpc>
              <a:buNone/>
            </a:pPr>
            <a:r>
              <a:rPr lang="en-US" sz="4000" dirty="0">
                <a:solidFill>
                  <a:srgbClr val="EDEDE8"/>
                </a:solidFill>
                <a:latin typeface="Times New Roman" panose="02020603050405020304" pitchFamily="18" charset="0"/>
                <a:ea typeface="Tomorrow Semi Bold" pitchFamily="34" charset="-122"/>
                <a:cs typeface="Times New Roman" panose="02020603050405020304" pitchFamily="18" charset="0"/>
              </a:rPr>
              <a:t>What Can We Do?</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716756" y="1775103"/>
            <a:ext cx="13196888" cy="327660"/>
          </a:xfrm>
          <a:prstGeom prst="rect">
            <a:avLst/>
          </a:prstGeom>
          <a:noFill/>
          <a:ln/>
        </p:spPr>
        <p:txBody>
          <a:bodyPr wrap="none" lIns="0" tIns="0" rIns="0" bIns="0" rtlCol="0" anchor="t"/>
          <a:lstStyle/>
          <a:p>
            <a:pPr marL="0" indent="0" algn="l">
              <a:lnSpc>
                <a:spcPts val="2550"/>
              </a:lnSpc>
              <a:buNone/>
            </a:pPr>
            <a:r>
              <a:rPr lang="en-US" sz="2000" dirty="0">
                <a:solidFill>
                  <a:srgbClr val="C9C9C0"/>
                </a:solidFill>
                <a:latin typeface="Times New Roman" panose="02020603050405020304" pitchFamily="18" charset="0"/>
                <a:ea typeface="Tomorrow" pitchFamily="34" charset="-122"/>
                <a:cs typeface="Times New Roman" panose="02020603050405020304" pitchFamily="18" charset="0"/>
              </a:rPr>
              <a:t>Faced with such a large-scale technological shift, individuals may feel powerless, but there are meaningful ways to engage:</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716756" y="2333149"/>
            <a:ext cx="4262438" cy="3957399"/>
          </a:xfrm>
          <a:prstGeom prst="roundRect">
            <a:avLst>
              <a:gd name="adj" fmla="val 776"/>
            </a:avLst>
          </a:prstGeom>
          <a:solidFill>
            <a:srgbClr val="3C3C3A"/>
          </a:solidFill>
          <a:ln/>
        </p:spPr>
      </p:sp>
      <p:sp>
        <p:nvSpPr>
          <p:cNvPr id="5" name="Shape 3"/>
          <p:cNvSpPr/>
          <p:nvPr/>
        </p:nvSpPr>
        <p:spPr>
          <a:xfrm>
            <a:off x="921544" y="2537936"/>
            <a:ext cx="614363" cy="614363"/>
          </a:xfrm>
          <a:prstGeom prst="roundRect">
            <a:avLst>
              <a:gd name="adj" fmla="val 14882220"/>
            </a:avLst>
          </a:prstGeom>
          <a:solidFill>
            <a:srgbClr val="E1E1D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0493" y="2706886"/>
            <a:ext cx="276463" cy="276463"/>
          </a:xfrm>
          <a:prstGeom prst="rect">
            <a:avLst/>
          </a:prstGeom>
        </p:spPr>
      </p:pic>
      <p:sp>
        <p:nvSpPr>
          <p:cNvPr id="7" name="Text 4"/>
          <p:cNvSpPr/>
          <p:nvPr/>
        </p:nvSpPr>
        <p:spPr>
          <a:xfrm>
            <a:off x="921544" y="3357086"/>
            <a:ext cx="3756898" cy="319921"/>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imes New Roman" panose="02020603050405020304" pitchFamily="18" charset="0"/>
                <a:ea typeface="Tomorrow Semi Bold" pitchFamily="34" charset="-122"/>
                <a:cs typeface="Times New Roman" panose="02020603050405020304" pitchFamily="18" charset="0"/>
              </a:rPr>
              <a:t>Understand Your Local Utility</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921544" y="3799880"/>
            <a:ext cx="3852863" cy="1965960"/>
          </a:xfrm>
          <a:prstGeom prst="rect">
            <a:avLst/>
          </a:prstGeom>
          <a:noFill/>
          <a:ln/>
        </p:spPr>
        <p:txBody>
          <a:bodyPr wrap="square" lIns="0" tIns="0" rIns="0" bIns="0" rtlCol="0" anchor="t"/>
          <a:lstStyle/>
          <a:p>
            <a:pPr marL="0" indent="0" algn="l">
              <a:lnSpc>
                <a:spcPts val="2550"/>
              </a:lnSpc>
              <a:buNone/>
            </a:pPr>
            <a:r>
              <a:rPr lang="en-US" sz="2000" dirty="0">
                <a:solidFill>
                  <a:srgbClr val="C9C9C0"/>
                </a:solidFill>
                <a:latin typeface="Times New Roman" panose="02020603050405020304" pitchFamily="18" charset="0"/>
                <a:ea typeface="Tomorrow" pitchFamily="34" charset="-122"/>
                <a:cs typeface="Times New Roman" panose="02020603050405020304" pitchFamily="18" charset="0"/>
              </a:rPr>
              <a:t>The impact of a data centre on your community, especially electricity rates, is often mediated through your local utility. Learn how these companies operate and support groups advocating for renewable energy and fair rates.</a:t>
            </a:r>
            <a:endParaRPr lang="en-US" sz="2000" dirty="0">
              <a:latin typeface="Times New Roman" panose="02020603050405020304" pitchFamily="18" charset="0"/>
              <a:cs typeface="Times New Roman" panose="02020603050405020304" pitchFamily="18" charset="0"/>
            </a:endParaRPr>
          </a:p>
        </p:txBody>
      </p:sp>
      <p:sp>
        <p:nvSpPr>
          <p:cNvPr id="9" name="Shape 6"/>
          <p:cNvSpPr/>
          <p:nvPr/>
        </p:nvSpPr>
        <p:spPr>
          <a:xfrm>
            <a:off x="5183981" y="2333149"/>
            <a:ext cx="4262438" cy="3957399"/>
          </a:xfrm>
          <a:prstGeom prst="roundRect">
            <a:avLst>
              <a:gd name="adj" fmla="val 776"/>
            </a:avLst>
          </a:prstGeom>
          <a:solidFill>
            <a:srgbClr val="3C3C3A"/>
          </a:solidFill>
          <a:ln/>
        </p:spPr>
      </p:sp>
      <p:sp>
        <p:nvSpPr>
          <p:cNvPr id="10" name="Shape 7"/>
          <p:cNvSpPr/>
          <p:nvPr/>
        </p:nvSpPr>
        <p:spPr>
          <a:xfrm>
            <a:off x="5388769" y="2537936"/>
            <a:ext cx="614363" cy="614363"/>
          </a:xfrm>
          <a:prstGeom prst="roundRect">
            <a:avLst>
              <a:gd name="adj" fmla="val 14882220"/>
            </a:avLst>
          </a:prstGeom>
          <a:solidFill>
            <a:srgbClr val="E1E1DF"/>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7718" y="2706886"/>
            <a:ext cx="276463" cy="276463"/>
          </a:xfrm>
          <a:prstGeom prst="rect">
            <a:avLst/>
          </a:prstGeom>
        </p:spPr>
      </p:pic>
      <p:sp>
        <p:nvSpPr>
          <p:cNvPr id="12" name="Text 8"/>
          <p:cNvSpPr/>
          <p:nvPr/>
        </p:nvSpPr>
        <p:spPr>
          <a:xfrm>
            <a:off x="5388769" y="3357086"/>
            <a:ext cx="3852863" cy="639842"/>
          </a:xfrm>
          <a:prstGeom prst="rect">
            <a:avLst/>
          </a:prstGeom>
          <a:noFill/>
          <a:ln/>
        </p:spPr>
        <p:txBody>
          <a:bodyPr wrap="square" lIns="0" tIns="0" rIns="0" bIns="0" rtlCol="0" anchor="t"/>
          <a:lstStyle/>
          <a:p>
            <a:pPr marL="0" indent="0" algn="l">
              <a:lnSpc>
                <a:spcPts val="2500"/>
              </a:lnSpc>
              <a:buNone/>
            </a:pPr>
            <a:r>
              <a:rPr lang="en-US" sz="2000" dirty="0">
                <a:solidFill>
                  <a:srgbClr val="C9C9C0"/>
                </a:solidFill>
                <a:latin typeface="Times New Roman" panose="02020603050405020304" pitchFamily="18" charset="0"/>
                <a:ea typeface="Tomorrow Semi Bold" pitchFamily="34" charset="-122"/>
                <a:cs typeface="Times New Roman" panose="02020603050405020304" pitchFamily="18" charset="0"/>
              </a:rPr>
              <a:t>Double-Down on the Humanities</a:t>
            </a:r>
            <a:endParaRPr lang="en-US" sz="2000" dirty="0">
              <a:latin typeface="Times New Roman" panose="02020603050405020304" pitchFamily="18" charset="0"/>
              <a:cs typeface="Times New Roman" panose="02020603050405020304" pitchFamily="18" charset="0"/>
            </a:endParaRPr>
          </a:p>
        </p:txBody>
      </p:sp>
      <p:sp>
        <p:nvSpPr>
          <p:cNvPr id="13" name="Text 9"/>
          <p:cNvSpPr/>
          <p:nvPr/>
        </p:nvSpPr>
        <p:spPr>
          <a:xfrm>
            <a:off x="5388769" y="4119801"/>
            <a:ext cx="3852863" cy="1965960"/>
          </a:xfrm>
          <a:prstGeom prst="rect">
            <a:avLst/>
          </a:prstGeom>
          <a:noFill/>
          <a:ln/>
        </p:spPr>
        <p:txBody>
          <a:bodyPr wrap="square" lIns="0" tIns="0" rIns="0" bIns="0" rtlCol="0" anchor="t"/>
          <a:lstStyle/>
          <a:p>
            <a:pPr marL="0" indent="0" algn="l">
              <a:lnSpc>
                <a:spcPts val="2550"/>
              </a:lnSpc>
              <a:buNone/>
            </a:pPr>
            <a:r>
              <a:rPr lang="en-US" sz="2000" dirty="0">
                <a:solidFill>
                  <a:srgbClr val="C9C9C0"/>
                </a:solidFill>
                <a:latin typeface="Times New Roman" panose="02020603050405020304" pitchFamily="18" charset="0"/>
                <a:ea typeface="Tomorrow" pitchFamily="34" charset="-122"/>
                <a:cs typeface="Times New Roman" panose="02020603050405020304" pitchFamily="18" charset="0"/>
              </a:rPr>
              <a:t>While AI is not disappearing, nurturing uniquely human skills—critical thinking, creativity, and personal relationships—becomes even more valuable. Engage with human-generated art, literature, and conversation.</a:t>
            </a:r>
            <a:endParaRPr lang="en-US" sz="2000" dirty="0">
              <a:latin typeface="Times New Roman" panose="02020603050405020304" pitchFamily="18" charset="0"/>
              <a:cs typeface="Times New Roman" panose="02020603050405020304" pitchFamily="18" charset="0"/>
            </a:endParaRPr>
          </a:p>
        </p:txBody>
      </p:sp>
      <p:sp>
        <p:nvSpPr>
          <p:cNvPr id="14" name="Shape 10"/>
          <p:cNvSpPr/>
          <p:nvPr/>
        </p:nvSpPr>
        <p:spPr>
          <a:xfrm>
            <a:off x="9651206" y="2333149"/>
            <a:ext cx="4262438" cy="3957399"/>
          </a:xfrm>
          <a:prstGeom prst="roundRect">
            <a:avLst>
              <a:gd name="adj" fmla="val 776"/>
            </a:avLst>
          </a:prstGeom>
          <a:solidFill>
            <a:srgbClr val="3C3C3A"/>
          </a:solidFill>
          <a:ln/>
        </p:spPr>
      </p:sp>
      <p:sp>
        <p:nvSpPr>
          <p:cNvPr id="15" name="Shape 11"/>
          <p:cNvSpPr/>
          <p:nvPr/>
        </p:nvSpPr>
        <p:spPr>
          <a:xfrm>
            <a:off x="9855994" y="2537936"/>
            <a:ext cx="614363" cy="614363"/>
          </a:xfrm>
          <a:prstGeom prst="roundRect">
            <a:avLst>
              <a:gd name="adj" fmla="val 14882220"/>
            </a:avLst>
          </a:prstGeom>
          <a:solidFill>
            <a:srgbClr val="E1E1DF"/>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24943" y="2706886"/>
            <a:ext cx="276463" cy="276463"/>
          </a:xfrm>
          <a:prstGeom prst="rect">
            <a:avLst/>
          </a:prstGeom>
        </p:spPr>
      </p:pic>
      <p:sp>
        <p:nvSpPr>
          <p:cNvPr id="17" name="Text 12"/>
          <p:cNvSpPr/>
          <p:nvPr/>
        </p:nvSpPr>
        <p:spPr>
          <a:xfrm>
            <a:off x="9855994" y="3357086"/>
            <a:ext cx="3852863" cy="639842"/>
          </a:xfrm>
          <a:prstGeom prst="rect">
            <a:avLst/>
          </a:prstGeom>
          <a:noFill/>
          <a:ln/>
        </p:spPr>
        <p:txBody>
          <a:bodyPr wrap="square" lIns="0" tIns="0" rIns="0" bIns="0" rtlCol="0" anchor="t"/>
          <a:lstStyle/>
          <a:p>
            <a:pPr marL="0" indent="0" algn="l">
              <a:lnSpc>
                <a:spcPts val="2500"/>
              </a:lnSpc>
              <a:buNone/>
            </a:pPr>
            <a:r>
              <a:rPr lang="en-US" sz="2000" dirty="0">
                <a:solidFill>
                  <a:srgbClr val="C9C9C0"/>
                </a:solidFill>
                <a:latin typeface="Times New Roman" panose="02020603050405020304" pitchFamily="18" charset="0"/>
                <a:ea typeface="Tomorrow Semi Bold" pitchFamily="34" charset="-122"/>
                <a:cs typeface="Times New Roman" panose="02020603050405020304" pitchFamily="18" charset="0"/>
              </a:rPr>
              <a:t>Engage Critically with Technology</a:t>
            </a:r>
            <a:endParaRPr lang="en-US" sz="2000" dirty="0">
              <a:latin typeface="Times New Roman" panose="02020603050405020304" pitchFamily="18" charset="0"/>
              <a:cs typeface="Times New Roman" panose="02020603050405020304" pitchFamily="18" charset="0"/>
            </a:endParaRPr>
          </a:p>
        </p:txBody>
      </p:sp>
      <p:sp>
        <p:nvSpPr>
          <p:cNvPr id="18" name="Text 13"/>
          <p:cNvSpPr/>
          <p:nvPr/>
        </p:nvSpPr>
        <p:spPr>
          <a:xfrm>
            <a:off x="9855994" y="4119801"/>
            <a:ext cx="3852863" cy="1965960"/>
          </a:xfrm>
          <a:prstGeom prst="rect">
            <a:avLst/>
          </a:prstGeom>
          <a:noFill/>
          <a:ln/>
        </p:spPr>
        <p:txBody>
          <a:bodyPr wrap="square" lIns="0" tIns="0" rIns="0" bIns="0" rtlCol="0" anchor="t"/>
          <a:lstStyle/>
          <a:p>
            <a:pPr marL="0" indent="0" algn="l">
              <a:lnSpc>
                <a:spcPts val="2550"/>
              </a:lnSpc>
              <a:buNone/>
            </a:pPr>
            <a:r>
              <a:rPr lang="en-US" sz="2000" dirty="0">
                <a:solidFill>
                  <a:srgbClr val="C9C9C0"/>
                </a:solidFill>
                <a:latin typeface="Times New Roman" panose="02020603050405020304" pitchFamily="18" charset="0"/>
                <a:ea typeface="Tomorrow" pitchFamily="34" charset="-122"/>
                <a:cs typeface="Times New Roman" panose="02020603050405020304" pitchFamily="18" charset="0"/>
              </a:rPr>
              <a:t>To form an informed opinion, understand the technology. Dabble with AI tools, but be a critical user. Avoid treating them as sentient beings, and push back against AI features added where they offer no real utility.</a:t>
            </a:r>
            <a:endParaRPr lang="en-US" sz="2000" dirty="0">
              <a:latin typeface="Times New Roman" panose="02020603050405020304" pitchFamily="18" charset="0"/>
              <a:cs typeface="Times New Roman" panose="02020603050405020304" pitchFamily="18" charset="0"/>
            </a:endParaRPr>
          </a:p>
        </p:txBody>
      </p:sp>
      <p:sp>
        <p:nvSpPr>
          <p:cNvPr id="19" name="Text 14"/>
          <p:cNvSpPr/>
          <p:nvPr/>
        </p:nvSpPr>
        <p:spPr>
          <a:xfrm>
            <a:off x="716756" y="6520934"/>
            <a:ext cx="13196888" cy="982980"/>
          </a:xfrm>
          <a:prstGeom prst="rect">
            <a:avLst/>
          </a:prstGeom>
          <a:noFill/>
          <a:ln/>
        </p:spPr>
        <p:txBody>
          <a:bodyPr wrap="square" lIns="0" tIns="0" rIns="0" bIns="0" rtlCol="0" anchor="t"/>
          <a:lstStyle/>
          <a:p>
            <a:pPr marL="0" indent="0" algn="l">
              <a:lnSpc>
                <a:spcPts val="2550"/>
              </a:lnSpc>
              <a:buNone/>
            </a:pPr>
            <a:r>
              <a:rPr lang="en-US" sz="2000" dirty="0">
                <a:solidFill>
                  <a:srgbClr val="C9C9C0"/>
                </a:solidFill>
                <a:latin typeface="Times New Roman" panose="02020603050405020304" pitchFamily="18" charset="0"/>
                <a:ea typeface="Tomorrow" pitchFamily="34" charset="-122"/>
                <a:cs typeface="Times New Roman" panose="02020603050405020304" pitchFamily="18" charset="0"/>
              </a:rPr>
              <a:t>The AI data centre boom is a defining phenomenon of our time, representing a colossal gamble on the future of technology and its role in our society. Understanding how these facilities work, the resources they consume, and the forces driving their expansion is the first step toward navigating the world they are building.</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01FE5-63B8-67F7-0D35-A90074D1DD64}"/>
              </a:ext>
            </a:extLst>
          </p:cNvPr>
          <p:cNvSpPr txBox="1"/>
          <p:nvPr/>
        </p:nvSpPr>
        <p:spPr>
          <a:xfrm>
            <a:off x="457200" y="493776"/>
            <a:ext cx="3159839" cy="830997"/>
          </a:xfrm>
          <a:prstGeom prst="rect">
            <a:avLst/>
          </a:prstGeom>
          <a:noFill/>
        </p:spPr>
        <p:txBody>
          <a:bodyPr wrap="none" rtlCol="0">
            <a:spAutoFit/>
          </a:bodyPr>
          <a:lstStyle/>
          <a:p>
            <a:r>
              <a:rPr lang="en-US" sz="4800" dirty="0">
                <a:solidFill>
                  <a:schemeClr val="bg1"/>
                </a:solidFill>
                <a:latin typeface="Times New Roman" panose="02020603050405020304" pitchFamily="18" charset="0"/>
                <a:cs typeface="Times New Roman" panose="02020603050405020304" pitchFamily="18" charset="0"/>
              </a:rPr>
              <a:t>Conclusion:</a:t>
            </a:r>
            <a:endParaRPr lang="ru-RU" sz="48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6D0CDC0-05B9-05E8-04AD-D13B30B13B56}"/>
              </a:ext>
            </a:extLst>
          </p:cNvPr>
          <p:cNvSpPr txBox="1"/>
          <p:nvPr/>
        </p:nvSpPr>
        <p:spPr>
          <a:xfrm>
            <a:off x="363617" y="1847677"/>
            <a:ext cx="13903165" cy="6370975"/>
          </a:xfrm>
          <a:prstGeom prst="rect">
            <a:avLst/>
          </a:prstGeom>
          <a:noFill/>
        </p:spPr>
        <p:txBody>
          <a:bodyPr wrap="non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AI data center boom represents a </a:t>
            </a:r>
            <a:r>
              <a:rPr lang="en-US" sz="2400" b="1" dirty="0">
                <a:solidFill>
                  <a:schemeClr val="bg1"/>
                </a:solidFill>
                <a:latin typeface="Times New Roman" panose="02020603050405020304" pitchFamily="18" charset="0"/>
                <a:cs typeface="Times New Roman" panose="02020603050405020304" pitchFamily="18" charset="0"/>
              </a:rPr>
              <a:t>colossal gamble</a:t>
            </a:r>
            <a:r>
              <a:rPr lang="en-US" sz="2400" dirty="0">
                <a:solidFill>
                  <a:schemeClr val="bg1"/>
                </a:solidFill>
                <a:latin typeface="Times New Roman" panose="02020603050405020304" pitchFamily="18" charset="0"/>
                <a:cs typeface="Times New Roman" panose="02020603050405020304" pitchFamily="18" charset="0"/>
              </a:rPr>
              <a:t> on our technological and societal future.</a:t>
            </a:r>
          </a:p>
          <a:p>
            <a:r>
              <a:rPr lang="en-US" sz="2400" b="1" dirty="0">
                <a:solidFill>
                  <a:schemeClr val="bg1"/>
                </a:solidFill>
                <a:latin typeface="Times New Roman" panose="02020603050405020304" pitchFamily="18" charset="0"/>
                <a:cs typeface="Times New Roman" panose="02020603050405020304" pitchFamily="18" charset="0"/>
              </a:rPr>
              <a:t>Key Takeaways:</a:t>
            </a:r>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AI's "convenience" is powered by a </a:t>
            </a:r>
            <a:r>
              <a:rPr lang="en-US" sz="2400" b="1" dirty="0">
                <a:solidFill>
                  <a:schemeClr val="bg1"/>
                </a:solidFill>
                <a:latin typeface="Times New Roman" panose="02020603050405020304" pitchFamily="18" charset="0"/>
                <a:cs typeface="Times New Roman" panose="02020603050405020304" pitchFamily="18" charset="0"/>
              </a:rPr>
              <a:t>vast, resource-intensive physical infrastructure</a:t>
            </a:r>
            <a:r>
              <a:rPr lang="en-US" sz="2400" dirty="0">
                <a:solidFill>
                  <a:schemeClr val="bg1"/>
                </a:solidFill>
                <a:latin typeface="Times New Roman" panose="02020603050405020304" pitchFamily="18" charset="0"/>
                <a:cs typeface="Times New Roman" panose="02020603050405020304" pitchFamily="18" charset="0"/>
              </a:rPr>
              <a:t>, with a </a:t>
            </a:r>
          </a:p>
          <a:p>
            <a:r>
              <a:rPr lang="en-US" sz="2400" dirty="0">
                <a:solidFill>
                  <a:schemeClr val="bg1"/>
                </a:solidFill>
                <a:latin typeface="Times New Roman" panose="02020603050405020304" pitchFamily="18" charset="0"/>
                <a:cs typeface="Times New Roman" panose="02020603050405020304" pitchFamily="18" charset="0"/>
              </a:rPr>
              <a:t>complex and often hidden environmental cost.</a:t>
            </a:r>
          </a:p>
          <a:p>
            <a:r>
              <a:rPr lang="en-US" sz="2400" dirty="0">
                <a:solidFill>
                  <a:schemeClr val="bg1"/>
                </a:solidFill>
                <a:latin typeface="Times New Roman" panose="02020603050405020304" pitchFamily="18" charset="0"/>
                <a:cs typeface="Times New Roman" panose="02020603050405020304" pitchFamily="18" charset="0"/>
              </a:rPr>
              <a:t>This expansion has ignited a </a:t>
            </a:r>
            <a:r>
              <a:rPr lang="en-US" sz="2400" b="1" dirty="0">
                <a:solidFill>
                  <a:schemeClr val="bg1"/>
                </a:solidFill>
                <a:latin typeface="Times New Roman" panose="02020603050405020304" pitchFamily="18" charset="0"/>
                <a:cs typeface="Times New Roman" panose="02020603050405020304" pitchFamily="18" charset="0"/>
              </a:rPr>
              <a:t>political struggle</a:t>
            </a:r>
            <a:r>
              <a:rPr lang="en-US" sz="2400" dirty="0">
                <a:solidFill>
                  <a:schemeClr val="bg1"/>
                </a:solidFill>
                <a:latin typeface="Times New Roman" panose="02020603050405020304" pitchFamily="18" charset="0"/>
                <a:cs typeface="Times New Roman" panose="02020603050405020304" pitchFamily="18" charset="0"/>
              </a:rPr>
              <a:t>, creating friction between national ambitions and local </a:t>
            </a:r>
          </a:p>
          <a:p>
            <a:r>
              <a:rPr lang="en-US" sz="2400" dirty="0">
                <a:solidFill>
                  <a:schemeClr val="bg1"/>
                </a:solidFill>
                <a:latin typeface="Times New Roman" panose="02020603050405020304" pitchFamily="18" charset="0"/>
                <a:cs typeface="Times New Roman" panose="02020603050405020304" pitchFamily="18" charset="0"/>
              </a:rPr>
              <a:t>community welfare.</a:t>
            </a:r>
          </a:p>
          <a:p>
            <a:r>
              <a:rPr lang="en-US" sz="2400" dirty="0">
                <a:solidFill>
                  <a:schemeClr val="bg1"/>
                </a:solidFill>
                <a:latin typeface="Times New Roman" panose="02020603050405020304" pitchFamily="18" charset="0"/>
                <a:cs typeface="Times New Roman" panose="02020603050405020304" pitchFamily="18" charset="0"/>
              </a:rPr>
              <a:t>Current breakneck investment faces fundamental questions about </a:t>
            </a:r>
            <a:r>
              <a:rPr lang="en-US" sz="2400" b="1" dirty="0">
                <a:solidFill>
                  <a:schemeClr val="bg1"/>
                </a:solidFill>
                <a:latin typeface="Times New Roman" panose="02020603050405020304" pitchFamily="18" charset="0"/>
                <a:cs typeface="Times New Roman" panose="02020603050405020304" pitchFamily="18" charset="0"/>
              </a:rPr>
              <a:t>economic sustainability</a:t>
            </a:r>
            <a:r>
              <a:rPr lang="en-US" sz="2400" dirty="0">
                <a:solidFill>
                  <a:schemeClr val="bg1"/>
                </a:solidFill>
                <a:latin typeface="Times New Roman" panose="02020603050405020304" pitchFamily="18" charset="0"/>
                <a:cs typeface="Times New Roman" panose="02020603050405020304" pitchFamily="18" charset="0"/>
              </a:rPr>
              <a:t> and </a:t>
            </a:r>
          </a:p>
          <a:p>
            <a:r>
              <a:rPr lang="en-US" sz="2400" b="1" dirty="0">
                <a:solidFill>
                  <a:schemeClr val="bg1"/>
                </a:solidFill>
                <a:latin typeface="Times New Roman" panose="02020603050405020304" pitchFamily="18" charset="0"/>
                <a:cs typeface="Times New Roman" panose="02020603050405020304" pitchFamily="18" charset="0"/>
              </a:rPr>
              <a:t>technological longevity</a:t>
            </a:r>
            <a:r>
              <a:rPr lang="en-US" sz="2400" dirty="0">
                <a:solidFill>
                  <a:schemeClr val="bg1"/>
                </a:solidFill>
                <a:latin typeface="Times New Roman" panose="02020603050405020304" pitchFamily="18" charset="0"/>
                <a:cs typeface="Times New Roman" panose="02020603050405020304" pitchFamily="18" charset="0"/>
              </a:rPr>
              <a:t>.</a:t>
            </a:r>
          </a:p>
          <a:p>
            <a:r>
              <a:rPr lang="en-US" sz="2400" b="1" dirty="0">
                <a:solidFill>
                  <a:schemeClr val="bg1"/>
                </a:solidFill>
                <a:latin typeface="Times New Roman" panose="02020603050405020304" pitchFamily="18" charset="0"/>
                <a:cs typeface="Times New Roman" panose="02020603050405020304" pitchFamily="18" charset="0"/>
              </a:rPr>
              <a:t>We stand at a crossroads.</a:t>
            </a:r>
            <a:r>
              <a:rPr lang="en-US" sz="2400" dirty="0">
                <a:solidFill>
                  <a:schemeClr val="bg1"/>
                </a:solidFill>
                <a:latin typeface="Times New Roman" panose="02020603050405020304" pitchFamily="18" charset="0"/>
                <a:cs typeface="Times New Roman" panose="02020603050405020304" pitchFamily="18" charset="0"/>
              </a:rPr>
              <a:t> The path forward requires moving from passive consumption to </a:t>
            </a:r>
            <a:r>
              <a:rPr lang="en-US" sz="2400" b="1" dirty="0">
                <a:solidFill>
                  <a:schemeClr val="bg1"/>
                </a:solidFill>
                <a:latin typeface="Times New Roman" panose="02020603050405020304" pitchFamily="18" charset="0"/>
                <a:cs typeface="Times New Roman" panose="02020603050405020304" pitchFamily="18" charset="0"/>
              </a:rPr>
              <a:t>informed</a:t>
            </a:r>
          </a:p>
          <a:p>
            <a:r>
              <a:rPr lang="en-US" sz="2400" b="1" dirty="0">
                <a:solidFill>
                  <a:schemeClr val="bg1"/>
                </a:solidFill>
                <a:latin typeface="Times New Roman" panose="02020603050405020304" pitchFamily="18" charset="0"/>
                <a:cs typeface="Times New Roman" panose="02020603050405020304" pitchFamily="18" charset="0"/>
              </a:rPr>
              <a:t> engagement</a:t>
            </a:r>
            <a:r>
              <a:rPr lang="en-US" sz="2400" dirty="0">
                <a:solidFill>
                  <a:schemeClr val="bg1"/>
                </a:solidFill>
                <a:latin typeface="Times New Roman" panose="02020603050405020304" pitchFamily="18" charset="0"/>
                <a:cs typeface="Times New Roman" panose="02020603050405020304" pitchFamily="18" charset="0"/>
              </a:rPr>
              <a:t>:</a:t>
            </a:r>
          </a:p>
          <a:p>
            <a:r>
              <a:rPr lang="en-US" sz="2400" b="1" dirty="0">
                <a:solidFill>
                  <a:schemeClr val="bg1"/>
                </a:solidFill>
                <a:latin typeface="Times New Roman" panose="02020603050405020304" pitchFamily="18" charset="0"/>
                <a:cs typeface="Times New Roman" panose="02020603050405020304" pitchFamily="18" charset="0"/>
              </a:rPr>
              <a:t>Demand Transparency &amp; Responsibility</a:t>
            </a:r>
            <a:r>
              <a:rPr lang="en-US" sz="2400" dirty="0">
                <a:solidFill>
                  <a:schemeClr val="bg1"/>
                </a:solidFill>
                <a:latin typeface="Times New Roman" panose="02020603050405020304" pitchFamily="18" charset="0"/>
                <a:cs typeface="Times New Roman" panose="02020603050405020304" pitchFamily="18" charset="0"/>
              </a:rPr>
              <a:t> from companies and utilities on energy use and community impact.</a:t>
            </a:r>
          </a:p>
          <a:p>
            <a:r>
              <a:rPr lang="en-US" sz="2400" b="1" dirty="0">
                <a:solidFill>
                  <a:schemeClr val="bg1"/>
                </a:solidFill>
                <a:latin typeface="Times New Roman" panose="02020603050405020304" pitchFamily="18" charset="0"/>
                <a:cs typeface="Times New Roman" panose="02020603050405020304" pitchFamily="18" charset="0"/>
              </a:rPr>
              <a:t>Champion Human-Centric Values</a:t>
            </a:r>
            <a:r>
              <a:rPr lang="en-US" sz="2400" dirty="0">
                <a:solidFill>
                  <a:schemeClr val="bg1"/>
                </a:solidFill>
                <a:latin typeface="Times New Roman" panose="02020603050405020304" pitchFamily="18" charset="0"/>
                <a:cs typeface="Times New Roman" panose="02020603050405020304" pitchFamily="18" charset="0"/>
              </a:rPr>
              <a:t> in a world increasingly shaped by synthetic intelligence.</a:t>
            </a:r>
          </a:p>
          <a:p>
            <a:r>
              <a:rPr lang="en-US" sz="2400" b="1" dirty="0">
                <a:solidFill>
                  <a:schemeClr val="bg1"/>
                </a:solidFill>
                <a:latin typeface="Times New Roman" panose="02020603050405020304" pitchFamily="18" charset="0"/>
                <a:cs typeface="Times New Roman" panose="02020603050405020304" pitchFamily="18" charset="0"/>
              </a:rPr>
              <a:t>Make Conscious Choices</a:t>
            </a:r>
            <a:r>
              <a:rPr lang="en-US" sz="2400" dirty="0">
                <a:solidFill>
                  <a:schemeClr val="bg1"/>
                </a:solidFill>
                <a:latin typeface="Times New Roman" panose="02020603050405020304" pitchFamily="18" charset="0"/>
                <a:cs typeface="Times New Roman" panose="02020603050405020304" pitchFamily="18" charset="0"/>
              </a:rPr>
              <a:t> as users, voters, and community members to shape the trajectory of this </a:t>
            </a:r>
          </a:p>
          <a:p>
            <a:r>
              <a:rPr lang="en-US" sz="2400" dirty="0">
                <a:solidFill>
                  <a:schemeClr val="bg1"/>
                </a:solidFill>
                <a:latin typeface="Times New Roman" panose="02020603050405020304" pitchFamily="18" charset="0"/>
                <a:cs typeface="Times New Roman" panose="02020603050405020304" pitchFamily="18" charset="0"/>
              </a:rPr>
              <a:t>powerful technology.</a:t>
            </a:r>
          </a:p>
          <a:p>
            <a:r>
              <a:rPr lang="en-US" sz="2400" dirty="0">
                <a:solidFill>
                  <a:schemeClr val="bg1"/>
                </a:solidFill>
                <a:latin typeface="Times New Roman" panose="02020603050405020304" pitchFamily="18" charset="0"/>
                <a:cs typeface="Times New Roman" panose="02020603050405020304" pitchFamily="18" charset="0"/>
              </a:rPr>
              <a:t>The story of AI will be written not just in code, but in </a:t>
            </a:r>
            <a:r>
              <a:rPr lang="en-US" sz="2400" b="1" dirty="0">
                <a:solidFill>
                  <a:schemeClr val="bg1"/>
                </a:solidFill>
                <a:latin typeface="Times New Roman" panose="02020603050405020304" pitchFamily="18" charset="0"/>
                <a:cs typeface="Times New Roman" panose="02020603050405020304" pitchFamily="18" charset="0"/>
              </a:rPr>
              <a:t>policy, watts, and water.</a:t>
            </a:r>
            <a:r>
              <a:rPr lang="en-US" sz="2400" dirty="0">
                <a:solidFill>
                  <a:schemeClr val="bg1"/>
                </a:solidFill>
                <a:latin typeface="Times New Roman" panose="02020603050405020304" pitchFamily="18" charset="0"/>
                <a:cs typeface="Times New Roman" panose="02020603050405020304" pitchFamily="18" charset="0"/>
              </a:rPr>
              <a:t> Understanding </a:t>
            </a:r>
          </a:p>
          <a:p>
            <a:r>
              <a:rPr lang="en-US" sz="2400" dirty="0">
                <a:solidFill>
                  <a:schemeClr val="bg1"/>
                </a:solidFill>
                <a:latin typeface="Times New Roman" panose="02020603050405020304" pitchFamily="18" charset="0"/>
                <a:cs typeface="Times New Roman" panose="02020603050405020304" pitchFamily="18" charset="0"/>
              </a:rPr>
              <a:t>this engine is the first step toward ensuring it powers a future that is sustainable, equitable, and truly intelligent.</a:t>
            </a:r>
          </a:p>
          <a:p>
            <a:endParaRPr lang="ru-RU"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375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2385F7-861D-F733-A92A-3EA96BE1AD7D}"/>
              </a:ext>
            </a:extLst>
          </p:cNvPr>
          <p:cNvSpPr txBox="1"/>
          <p:nvPr/>
        </p:nvSpPr>
        <p:spPr>
          <a:xfrm>
            <a:off x="566928" y="256032"/>
            <a:ext cx="2303836" cy="830997"/>
          </a:xfrm>
          <a:prstGeom prst="rect">
            <a:avLst/>
          </a:prstGeom>
          <a:noFill/>
        </p:spPr>
        <p:txBody>
          <a:bodyPr wrap="none" rtlCol="0">
            <a:spAutoFit/>
          </a:bodyPr>
          <a:lstStyle/>
          <a:p>
            <a:r>
              <a:rPr lang="en-US" sz="4800" dirty="0">
                <a:solidFill>
                  <a:schemeClr val="bg1"/>
                </a:solidFill>
                <a:latin typeface="Times New Roman" panose="02020603050405020304" pitchFamily="18" charset="0"/>
                <a:cs typeface="Times New Roman" panose="02020603050405020304" pitchFamily="18" charset="0"/>
              </a:rPr>
              <a:t>Sources:</a:t>
            </a:r>
            <a:endParaRPr lang="ru-RU" sz="48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0857E42-3685-0DF6-87F4-1EEEB31EE077}"/>
              </a:ext>
            </a:extLst>
          </p:cNvPr>
          <p:cNvSpPr txBox="1"/>
          <p:nvPr/>
        </p:nvSpPr>
        <p:spPr>
          <a:xfrm>
            <a:off x="566928" y="1366183"/>
            <a:ext cx="14065325" cy="6863417"/>
          </a:xfrm>
          <a:prstGeom prst="rect">
            <a:avLst/>
          </a:prstGeom>
          <a:noFill/>
        </p:spPr>
        <p:txBody>
          <a:bodyPr wrap="none" rtlCol="0">
            <a:spAutoFit/>
          </a:bodyPr>
          <a:lstStyle/>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AI’s Growing Energy Footprint</a:t>
            </a:r>
            <a:r>
              <a:rPr lang="en-US" sz="2000" dirty="0">
                <a:solidFill>
                  <a:schemeClr val="bg1"/>
                </a:solidFill>
                <a:latin typeface="Times New Roman" panose="02020603050405020304" pitchFamily="18" charset="0"/>
                <a:cs typeface="Times New Roman" panose="02020603050405020304" pitchFamily="18" charset="0"/>
              </a:rPr>
              <a:t> (The Atlantic)</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https://www.theatlantic.com/technology/archive/2023/10/ai-energy-consumption-google-microsoft-openai/675747/</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Molly Taft's article detailing the immense and often opaque electricity demands of the AI boom.</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Data </a:t>
            </a:r>
            <a:r>
              <a:rPr lang="en-US" sz="2000" b="1" dirty="0" err="1">
                <a:solidFill>
                  <a:schemeClr val="bg1"/>
                </a:solidFill>
                <a:latin typeface="Times New Roman" panose="02020603050405020304" pitchFamily="18" charset="0"/>
                <a:cs typeface="Times New Roman" panose="02020603050405020304" pitchFamily="18" charset="0"/>
              </a:rPr>
              <a:t>Centres</a:t>
            </a:r>
            <a:r>
              <a:rPr lang="en-US" sz="2000" b="1" dirty="0">
                <a:solidFill>
                  <a:schemeClr val="bg1"/>
                </a:solidFill>
                <a:latin typeface="Times New Roman" panose="02020603050405020304" pitchFamily="18" charset="0"/>
                <a:cs typeface="Times New Roman" panose="02020603050405020304" pitchFamily="18" charset="0"/>
              </a:rPr>
              <a:t> and Data Transmission Networks</a:t>
            </a:r>
            <a:r>
              <a:rPr lang="en-US" sz="2000" dirty="0">
                <a:solidFill>
                  <a:schemeClr val="bg1"/>
                </a:solidFill>
                <a:latin typeface="Times New Roman" panose="02020603050405020304" pitchFamily="18" charset="0"/>
                <a:cs typeface="Times New Roman" panose="02020603050405020304" pitchFamily="18" charset="0"/>
              </a:rPr>
              <a:t> (International Energy Agency)</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https://www.iea.org/energy-system/buildings/data-centres-and-data-transmission-networks</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The IEA's authoritative tracking and analysis of global data center energy use, trends, and efficiency.</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The U.S. Is Spending Billions on AI. Local Communities Are Paying the Price.</a:t>
            </a:r>
            <a:r>
              <a:rPr lang="en-US" sz="2000" dirty="0">
                <a:solidFill>
                  <a:schemeClr val="bg1"/>
                </a:solidFill>
                <a:latin typeface="Times New Roman" panose="02020603050405020304" pitchFamily="18" charset="0"/>
                <a:cs typeface="Times New Roman" panose="02020603050405020304" pitchFamily="18" charset="0"/>
              </a:rPr>
              <a:t> (The Wall Street Journal)</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https://www.wsj.com/tech/ai/ai-data-centers-power-local-communities-0f12f6c2</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A detailed report on the political and community-level conflicts sparked by data center expansion.</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AI’s new wave of ‘small’ models</a:t>
            </a:r>
            <a:r>
              <a:rPr lang="en-US" sz="2000" dirty="0">
                <a:solidFill>
                  <a:schemeClr val="bg1"/>
                </a:solidFill>
                <a:latin typeface="Times New Roman" panose="02020603050405020304" pitchFamily="18" charset="0"/>
                <a:cs typeface="Times New Roman" panose="02020603050405020304" pitchFamily="18" charset="0"/>
              </a:rPr>
              <a:t> (Financial Times)</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https://www.ft.com/content/a94ffa6f-6dd9-4e93-8f7d-263c3e5c8d4f</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Analysis on efficient, low-cost models like DeepSeek that challenge the "bigger is better" paradigm.</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Measuring the Carbon Footprint of AI Models</a:t>
            </a:r>
            <a:r>
              <a:rPr lang="en-US" sz="2000" dirty="0">
                <a:solidFill>
                  <a:schemeClr val="bg1"/>
                </a:solidFill>
                <a:latin typeface="Times New Roman" panose="02020603050405020304" pitchFamily="18" charset="0"/>
                <a:cs typeface="Times New Roman" panose="02020603050405020304" pitchFamily="18" charset="0"/>
              </a:rPr>
              <a:t> (Hugging Face Blog)</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https://huggingface.co/blog/llm-environmental-impact</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Sasha Luccioni's work on transparency and tools for measuring the environmental impact of AI, including embodied emissions.</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The Coming AI Bubble</a:t>
            </a:r>
            <a:r>
              <a:rPr lang="en-US" sz="2000" dirty="0">
                <a:solidFill>
                  <a:schemeClr val="bg1"/>
                </a:solidFill>
                <a:latin typeface="Times New Roman" panose="02020603050405020304" pitchFamily="18" charset="0"/>
                <a:cs typeface="Times New Roman" panose="02020603050405020304" pitchFamily="18" charset="0"/>
              </a:rPr>
              <a:t> (The Economist)</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https://www.economist.com/leaders/2024/03/27/the-coming-ai-bubble</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A critical look at the massive investments in AI infrastructure and the potential economic sustainability crisis.</a:t>
            </a:r>
          </a:p>
          <a:p>
            <a:pPr marL="342900" indent="-342900">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How ChatGPT Works</a:t>
            </a:r>
            <a:r>
              <a:rPr lang="en-US" sz="2000" dirty="0">
                <a:solidFill>
                  <a:schemeClr val="bg1"/>
                </a:solidFill>
                <a:latin typeface="Times New Roman" panose="02020603050405020304" pitchFamily="18" charset="0"/>
                <a:cs typeface="Times New Roman" panose="02020603050405020304" pitchFamily="18" charset="0"/>
              </a:rPr>
              <a:t> (Visual Capitalist)</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https://www.visualcapitalist.com/how-chatgpt-works-visualizing-ai-architectures/</a:t>
            </a:r>
            <a:endParaRPr lang="en-US" sz="20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An accessible, visual explainer of the process from query to response, useful for explaining the "Journey of a Single Query."</a:t>
            </a:r>
          </a:p>
          <a:p>
            <a:pPr marL="342900" indent="-342900">
              <a:buFont typeface="Arial" panose="020B0604020202020204" pitchFamily="34" charset="0"/>
              <a:buChar char="•"/>
            </a:pPr>
            <a:endParaRPr lang="ru-RU"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954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1812</Words>
  <Application>Microsoft Office PowerPoint</Application>
  <PresentationFormat>Произвольный</PresentationFormat>
  <Paragraphs>121</Paragraphs>
  <Slides>14</Slides>
  <Notes>10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14</vt:i4>
      </vt:variant>
    </vt:vector>
  </HeadingPairs>
  <TitlesOfParts>
    <vt:vector size="17" baseType="lpstr">
      <vt:lpstr>Times New Roman</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Evita Kud</dc:creator>
  <cp:lastModifiedBy>Evita Kud</cp:lastModifiedBy>
  <cp:revision>13</cp:revision>
  <dcterms:created xsi:type="dcterms:W3CDTF">2025-12-17T20:45:15Z</dcterms:created>
  <dcterms:modified xsi:type="dcterms:W3CDTF">2025-12-17T21:12:19Z</dcterms:modified>
</cp:coreProperties>
</file>