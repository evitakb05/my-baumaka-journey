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60" r:id="rId6"/>
    <p:sldId id="259" r:id="rId7"/>
    <p:sldId id="261" r:id="rId8"/>
    <p:sldId id="262" r:id="rId9"/>
    <p:sldId id="263" r:id="rId10"/>
    <p:sldId id="268" r:id="rId11"/>
    <p:sldId id="267" r:id="rId12"/>
  </p:sldIdLst>
  <p:sldSz cx="14630400" cy="8229600"/>
  <p:notesSz cx="8229600" cy="146304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Merriweather" panose="020B0604020202020204" charset="-52"/>
      <p:regular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6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113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02324" y="0"/>
            <a:ext cx="7416403" cy="2313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Nanorobots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6350198" y="4312444"/>
            <a:ext cx="7416403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1D64B-D450-405A-8E3C-9AE66989C828}"/>
              </a:ext>
            </a:extLst>
          </p:cNvPr>
          <p:cNvSpPr txBox="1"/>
          <p:nvPr/>
        </p:nvSpPr>
        <p:spPr>
          <a:xfrm>
            <a:off x="11465168" y="6618767"/>
            <a:ext cx="27307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By IU5-42B Students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Kudabaeva</a:t>
            </a:r>
            <a:r>
              <a:rPr lang="en-US" sz="2400" dirty="0">
                <a:solidFill>
                  <a:schemeClr val="bg1"/>
                </a:solidFill>
              </a:rPr>
              <a:t> Evita</a:t>
            </a:r>
            <a:endParaRPr lang="ru-RU" sz="2400" dirty="0">
              <a:solidFill>
                <a:schemeClr val="bg1"/>
              </a:solidFill>
            </a:endParaRP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8FC27E82-A744-441A-9035-68900BD5E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954" y="1137091"/>
            <a:ext cx="11215214" cy="630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0523EB-1A64-41BD-8DED-7A653EE2E7DA}"/>
              </a:ext>
            </a:extLst>
          </p:cNvPr>
          <p:cNvSpPr txBox="1"/>
          <p:nvPr/>
        </p:nvSpPr>
        <p:spPr>
          <a:xfrm>
            <a:off x="230374" y="-20604"/>
            <a:ext cx="91757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Contents of the presentation</a:t>
            </a:r>
            <a:endParaRPr lang="ru-RU" sz="6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CC7BB0-7D90-42F4-8AA6-72592E45241D}"/>
              </a:ext>
            </a:extLst>
          </p:cNvPr>
          <p:cNvSpPr txBox="1"/>
          <p:nvPr/>
        </p:nvSpPr>
        <p:spPr>
          <a:xfrm>
            <a:off x="230374" y="861440"/>
            <a:ext cx="5707981" cy="7160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ts val="2900"/>
              </a:lnSpc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Definition of Nanorobots</a:t>
            </a:r>
          </a:p>
          <a:p>
            <a:pPr marL="457200" indent="-457200">
              <a:lnSpc>
                <a:spcPts val="2900"/>
              </a:lnSpc>
              <a:buFontTx/>
              <a:buChar char="-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00"/>
              </a:lnSpc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Concept and Design</a:t>
            </a:r>
          </a:p>
          <a:p>
            <a:pPr marL="457200" indent="-457200">
              <a:lnSpc>
                <a:spcPts val="2900"/>
              </a:lnSpc>
              <a:buFontTx/>
              <a:buChar char="-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00"/>
              </a:lnSpc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Working Mechanism</a:t>
            </a:r>
          </a:p>
          <a:p>
            <a:pPr marL="457200" indent="-457200">
              <a:lnSpc>
                <a:spcPts val="2900"/>
              </a:lnSpc>
              <a:buFontTx/>
              <a:buChar char="-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00"/>
              </a:lnSpc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History: From Early Steps to Nowadays</a:t>
            </a:r>
          </a:p>
          <a:p>
            <a:pPr marL="457200" indent="-457200">
              <a:lnSpc>
                <a:spcPts val="2900"/>
              </a:lnSpc>
              <a:buFontTx/>
              <a:buChar char="-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00"/>
              </a:lnSpc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Expert Opinions and Ethical Considerations</a:t>
            </a:r>
          </a:p>
          <a:p>
            <a:pPr marL="457200" indent="-457200">
              <a:lnSpc>
                <a:spcPts val="2900"/>
              </a:lnSpc>
              <a:buFontTx/>
              <a:buChar char="-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00"/>
              </a:lnSpc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Future Development and Predictions</a:t>
            </a:r>
          </a:p>
          <a:p>
            <a:pPr marL="457200" indent="-457200">
              <a:lnSpc>
                <a:spcPts val="2900"/>
              </a:lnSpc>
              <a:buFontTx/>
              <a:buChar char="-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00"/>
              </a:lnSpc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Conclusion</a:t>
            </a:r>
          </a:p>
          <a:p>
            <a:pPr marL="457200" indent="-457200">
              <a:lnSpc>
                <a:spcPts val="2900"/>
              </a:lnSpc>
              <a:buFontTx/>
              <a:buChar char="-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00"/>
              </a:lnSpc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Sources</a:t>
            </a:r>
          </a:p>
          <a:p>
            <a:pPr marL="457200" indent="-457200">
              <a:lnSpc>
                <a:spcPts val="2900"/>
              </a:lnSpc>
              <a:buFontTx/>
              <a:buChar char="-"/>
            </a:pP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9A39FC1-44B4-4707-8872-21CCF911C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438" y="1278535"/>
            <a:ext cx="9175782" cy="579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839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4619" y="173518"/>
            <a:ext cx="129028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Defining Space Robotics</a:t>
            </a:r>
            <a:endParaRPr lang="en-US" sz="48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DE8FEC-17D9-4CBD-A586-923B93776FA6}"/>
              </a:ext>
            </a:extLst>
          </p:cNvPr>
          <p:cNvSpPr txBox="1"/>
          <p:nvPr/>
        </p:nvSpPr>
        <p:spPr>
          <a:xfrm>
            <a:off x="240957" y="991081"/>
            <a:ext cx="5187461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u="sng" dirty="0">
                <a:solidFill>
                  <a:schemeClr val="bg1"/>
                </a:solidFill>
              </a:rPr>
              <a:t>Nanorobots (nanobots)</a:t>
            </a:r>
            <a:r>
              <a:rPr lang="en-US" sz="2800" b="1" dirty="0">
                <a:solidFill>
                  <a:schemeClr val="bg1"/>
                </a:solidFill>
              </a:rPr>
              <a:t> are microscopic machines designed to perform specific tasks at the nanoscale (1–100 nanometers).</a:t>
            </a:r>
          </a:p>
          <a:p>
            <a:endParaRPr lang="en-US" sz="2800" b="1" i="1" u="sng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They can be programmed to carry out medical, industrial, or environmental functions.</a:t>
            </a:r>
          </a:p>
          <a:p>
            <a:endParaRPr lang="en-US" sz="2800" b="1" i="1" u="sng" dirty="0">
              <a:solidFill>
                <a:schemeClr val="bg1"/>
              </a:solidFill>
            </a:endParaRPr>
          </a:p>
          <a:p>
            <a:r>
              <a:rPr lang="en-US" sz="2800" b="1" i="1" u="sng" dirty="0">
                <a:solidFill>
                  <a:schemeClr val="bg1"/>
                </a:solidFill>
              </a:rPr>
              <a:t>Key features: </a:t>
            </a:r>
          </a:p>
          <a:p>
            <a:r>
              <a:rPr lang="en-US" sz="2800" b="1" i="1" u="sng" dirty="0">
                <a:solidFill>
                  <a:schemeClr val="bg1"/>
                </a:solidFill>
              </a:rPr>
              <a:t>1) precision, </a:t>
            </a:r>
          </a:p>
          <a:p>
            <a:r>
              <a:rPr lang="en-US" sz="2800" b="1" i="1" u="sng" dirty="0">
                <a:solidFill>
                  <a:schemeClr val="bg1"/>
                </a:solidFill>
              </a:rPr>
              <a:t>2) autonomous/semi-autonomous operation, </a:t>
            </a:r>
          </a:p>
          <a:p>
            <a:r>
              <a:rPr lang="en-US" sz="2800" b="1" i="1" u="sng" dirty="0">
                <a:solidFill>
                  <a:schemeClr val="bg1"/>
                </a:solidFill>
              </a:rPr>
              <a:t>3) ability to interact at a cellular or molecular level.</a:t>
            </a:r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3" name="Picture 2" descr="Picture background">
            <a:extLst>
              <a:ext uri="{FF2B5EF4-FFF2-40B4-BE49-F238E27FC236}">
                <a16:creationId xmlns:a16="http://schemas.microsoft.com/office/drawing/2014/main" id="{2A40712A-9470-43F2-8EAD-8EEA76DB0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1897" y="639679"/>
            <a:ext cx="5212682" cy="3475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647499-B5D6-40DB-B99B-13AAA56C1F0B}"/>
              </a:ext>
            </a:extLst>
          </p:cNvPr>
          <p:cNvSpPr txBox="1"/>
          <p:nvPr/>
        </p:nvSpPr>
        <p:spPr>
          <a:xfrm>
            <a:off x="10154653" y="4211629"/>
            <a:ext cx="1206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Nanorobot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8551B82-1614-4ED2-AB43-512A1DF96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0199" y="4677790"/>
            <a:ext cx="4305533" cy="2529858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BCCBA08-A66D-4615-BD59-E1570CFC4838}"/>
              </a:ext>
            </a:extLst>
          </p:cNvPr>
          <p:cNvSpPr/>
          <p:nvPr/>
        </p:nvSpPr>
        <p:spPr>
          <a:xfrm>
            <a:off x="7586781" y="7385446"/>
            <a:ext cx="59629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Cookie robot from “Despicable me”, lol, </a:t>
            </a:r>
            <a:r>
              <a:rPr lang="en-US" dirty="0" err="1">
                <a:solidFill>
                  <a:schemeClr val="bg1"/>
                </a:solidFill>
              </a:rPr>
              <a:t>wth</a:t>
            </a:r>
            <a:r>
              <a:rPr lang="en-US" dirty="0">
                <a:solidFill>
                  <a:schemeClr val="bg1"/>
                </a:solidFill>
              </a:rPr>
              <a:t> is this doing here</a:t>
            </a:r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54277" y="63611"/>
            <a:ext cx="9429337" cy="2061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dirty="0">
                <a:solidFill>
                  <a:schemeClr val="bg1"/>
                </a:solidFill>
              </a:rPr>
              <a:t>Concept and design: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E0C35B-B3C1-4362-8FAA-A61BEA7F860B}"/>
              </a:ext>
            </a:extLst>
          </p:cNvPr>
          <p:cNvSpPr txBox="1"/>
          <p:nvPr/>
        </p:nvSpPr>
        <p:spPr>
          <a:xfrm>
            <a:off x="9826463" y="310918"/>
            <a:ext cx="464966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u="sng" dirty="0">
                <a:solidFill>
                  <a:schemeClr val="bg1"/>
                </a:solidFill>
              </a:rPr>
              <a:t>Biological nanorobots: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Made from DNA, proteins, or organic materials (e.g., DNA origami robots).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i="1" u="sng" dirty="0">
                <a:solidFill>
                  <a:schemeClr val="bg1"/>
                </a:solidFill>
              </a:rPr>
              <a:t>Synthetic nanorobots: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Built using nanomaterials like carbon nanotubes, graphene, or metals.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i="1" u="sng" dirty="0">
                <a:solidFill>
                  <a:schemeClr val="bg1"/>
                </a:solidFill>
              </a:rPr>
              <a:t>Hybrid designs: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Combine biological and synthetic components.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i="1" u="sng" dirty="0">
                <a:solidFill>
                  <a:schemeClr val="bg1"/>
                </a:solidFill>
              </a:rPr>
              <a:t>Examples: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DNA nanobots for targeted drug delivery (Nature, 2018).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Bacterial nanorobots for tumor detection (Science Robotics, 2020).</a:t>
            </a:r>
            <a:endParaRPr lang="ru-RU" sz="24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5DD6081-BF10-42B4-92EE-AE1C6A9291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1030" y="5095702"/>
            <a:ext cx="3578000" cy="2851218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F49A6B9-D46C-4ACC-845A-04A8697CD805}"/>
              </a:ext>
            </a:extLst>
          </p:cNvPr>
          <p:cNvSpPr/>
          <p:nvPr/>
        </p:nvSpPr>
        <p:spPr>
          <a:xfrm>
            <a:off x="3889030" y="7605222"/>
            <a:ext cx="5480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DNA nanobots for targeted drug delivery (Nature, 2018).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2E67D1-0923-4101-B23F-87D505F4A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918" y="669133"/>
            <a:ext cx="8709968" cy="4057237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27EE964-BAC7-47D3-8EF9-C7283D9186A0}"/>
              </a:ext>
            </a:extLst>
          </p:cNvPr>
          <p:cNvSpPr/>
          <p:nvPr/>
        </p:nvSpPr>
        <p:spPr>
          <a:xfrm>
            <a:off x="4629905" y="4911036"/>
            <a:ext cx="39989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Tumor and infection detection concepts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924" y="85537"/>
            <a:ext cx="13512641" cy="997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900"/>
              </a:lnSpc>
              <a:buNone/>
            </a:pPr>
            <a:r>
              <a:rPr lang="en-US" sz="31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Structure and Working Mechanisms</a:t>
            </a:r>
            <a:endParaRPr lang="en-US" sz="31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67E98D-DC48-4E94-8ACD-023027D7340D}"/>
              </a:ext>
            </a:extLst>
          </p:cNvPr>
          <p:cNvSpPr txBox="1"/>
          <p:nvPr/>
        </p:nvSpPr>
        <p:spPr>
          <a:xfrm>
            <a:off x="1195618" y="421584"/>
            <a:ext cx="498892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Nanorobots operate through: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i="1" u="sng" dirty="0">
                <a:solidFill>
                  <a:schemeClr val="bg1"/>
                </a:solidFill>
              </a:rPr>
              <a:t>Sensing: </a:t>
            </a:r>
            <a:r>
              <a:rPr lang="en-US" sz="2000" b="1" dirty="0">
                <a:solidFill>
                  <a:schemeClr val="bg1"/>
                </a:solidFill>
              </a:rPr>
              <a:t>Detect chemical signals (e.g., pH, temperature, biomarkers).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i="1" u="sng" dirty="0">
                <a:solidFill>
                  <a:schemeClr val="bg1"/>
                </a:solidFill>
              </a:rPr>
              <a:t>Processing: </a:t>
            </a:r>
            <a:r>
              <a:rPr lang="en-US" sz="2000" b="1" dirty="0">
                <a:solidFill>
                  <a:schemeClr val="bg1"/>
                </a:solidFill>
              </a:rPr>
              <a:t>Use onboard nano-computing for decision-making.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i="1" u="sng" dirty="0">
                <a:solidFill>
                  <a:schemeClr val="bg1"/>
                </a:solidFill>
              </a:rPr>
              <a:t>Actuation: </a:t>
            </a:r>
            <a:r>
              <a:rPr lang="en-US" sz="2000" b="1" dirty="0">
                <a:solidFill>
                  <a:schemeClr val="bg1"/>
                </a:solidFill>
              </a:rPr>
              <a:t>Move using: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i="1" u="sng" dirty="0">
                <a:solidFill>
                  <a:schemeClr val="bg1"/>
                </a:solidFill>
              </a:rPr>
              <a:t>Chemical propulsion </a:t>
            </a:r>
            <a:r>
              <a:rPr lang="en-US" sz="2000" b="1" dirty="0">
                <a:solidFill>
                  <a:schemeClr val="bg1"/>
                </a:solidFill>
              </a:rPr>
              <a:t>(enzyme reactions).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i="1" u="sng" dirty="0">
                <a:solidFill>
                  <a:schemeClr val="bg1"/>
                </a:solidFill>
              </a:rPr>
              <a:t>Magnetic guidance </a:t>
            </a:r>
            <a:r>
              <a:rPr lang="en-US" sz="2000" b="1" dirty="0">
                <a:solidFill>
                  <a:schemeClr val="bg1"/>
                </a:solidFill>
              </a:rPr>
              <a:t>(external magnetic fields).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i="1" u="sng" dirty="0">
                <a:solidFill>
                  <a:schemeClr val="bg1"/>
                </a:solidFill>
              </a:rPr>
              <a:t>Biological motors </a:t>
            </a:r>
            <a:r>
              <a:rPr lang="en-US" sz="2000" b="1" dirty="0">
                <a:solidFill>
                  <a:schemeClr val="bg1"/>
                </a:solidFill>
              </a:rPr>
              <a:t>(flagella-based movement).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i="1" u="sng" dirty="0">
                <a:solidFill>
                  <a:schemeClr val="bg1"/>
                </a:solidFill>
              </a:rPr>
              <a:t>Medical Applications: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Targeted drug delivery (e.g., cancer treatment).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Surgery at cellular level (e.g., plaque removal in arteries).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76DA97C2-B8F1-4BCE-9B09-6E3F86E829EB}"/>
              </a:ext>
            </a:extLst>
          </p:cNvPr>
          <p:cNvSpPr/>
          <p:nvPr/>
        </p:nvSpPr>
        <p:spPr>
          <a:xfrm>
            <a:off x="851295" y="789371"/>
            <a:ext cx="45719" cy="7271110"/>
          </a:xfrm>
          <a:prstGeom prst="roundRect">
            <a:avLst>
              <a:gd name="adj" fmla="val 283740"/>
            </a:avLst>
          </a:prstGeom>
          <a:solidFill>
            <a:srgbClr val="194A99"/>
          </a:solidFill>
          <a:ln/>
        </p:spPr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CF8E8C29-DDAA-40A1-912F-384DF2665BF3}"/>
              </a:ext>
            </a:extLst>
          </p:cNvPr>
          <p:cNvSpPr/>
          <p:nvPr/>
        </p:nvSpPr>
        <p:spPr>
          <a:xfrm>
            <a:off x="720209" y="1160465"/>
            <a:ext cx="540425" cy="22860"/>
          </a:xfrm>
          <a:prstGeom prst="roundRect">
            <a:avLst>
              <a:gd name="adj" fmla="val 283740"/>
            </a:avLst>
          </a:prstGeom>
          <a:solidFill>
            <a:srgbClr val="194A99"/>
          </a:solidFill>
          <a:ln/>
        </p:spPr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D763F74C-20D7-4F5A-8C6B-7B4C25F2C73A}"/>
              </a:ext>
            </a:extLst>
          </p:cNvPr>
          <p:cNvSpPr/>
          <p:nvPr/>
        </p:nvSpPr>
        <p:spPr>
          <a:xfrm>
            <a:off x="372785" y="967671"/>
            <a:ext cx="347424" cy="347424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70DB5F9F-5DA4-4C42-868C-E336FAD66A53}"/>
              </a:ext>
            </a:extLst>
          </p:cNvPr>
          <p:cNvSpPr/>
          <p:nvPr/>
        </p:nvSpPr>
        <p:spPr>
          <a:xfrm>
            <a:off x="318564" y="1026259"/>
            <a:ext cx="383942" cy="297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9344738A-2818-47BE-BF0A-0C71A4BACCC6}"/>
              </a:ext>
            </a:extLst>
          </p:cNvPr>
          <p:cNvSpPr/>
          <p:nvPr/>
        </p:nvSpPr>
        <p:spPr>
          <a:xfrm>
            <a:off x="623412" y="2012811"/>
            <a:ext cx="540425" cy="22860"/>
          </a:xfrm>
          <a:prstGeom prst="roundRect">
            <a:avLst>
              <a:gd name="adj" fmla="val 283740"/>
            </a:avLst>
          </a:prstGeom>
          <a:solidFill>
            <a:srgbClr val="194A99"/>
          </a:solidFill>
          <a:ln/>
        </p:spPr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F391C1F6-C611-400E-90E4-96E12B978E4F}"/>
              </a:ext>
            </a:extLst>
          </p:cNvPr>
          <p:cNvSpPr/>
          <p:nvPr/>
        </p:nvSpPr>
        <p:spPr>
          <a:xfrm>
            <a:off x="336823" y="1814254"/>
            <a:ext cx="347424" cy="347424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A3E66EC9-B912-4D77-B74D-88149B11006E}"/>
              </a:ext>
            </a:extLst>
          </p:cNvPr>
          <p:cNvSpPr/>
          <p:nvPr/>
        </p:nvSpPr>
        <p:spPr>
          <a:xfrm>
            <a:off x="441241" y="1872118"/>
            <a:ext cx="138589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1800" dirty="0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9B37BC8D-1D81-4AFA-B716-043F7CF25E00}"/>
              </a:ext>
            </a:extLst>
          </p:cNvPr>
          <p:cNvSpPr/>
          <p:nvPr/>
        </p:nvSpPr>
        <p:spPr>
          <a:xfrm>
            <a:off x="697349" y="3496102"/>
            <a:ext cx="540425" cy="22860"/>
          </a:xfrm>
          <a:prstGeom prst="roundRect">
            <a:avLst>
              <a:gd name="adj" fmla="val 283740"/>
            </a:avLst>
          </a:prstGeom>
          <a:solidFill>
            <a:srgbClr val="194A99"/>
          </a:solidFill>
          <a:ln/>
        </p:spPr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A53B6227-A90E-4FEA-98C5-C8A3C2C33CBA}"/>
              </a:ext>
            </a:extLst>
          </p:cNvPr>
          <p:cNvSpPr/>
          <p:nvPr/>
        </p:nvSpPr>
        <p:spPr>
          <a:xfrm>
            <a:off x="336856" y="3359464"/>
            <a:ext cx="347424" cy="347424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DCB2F880-65DF-4392-AEDD-ECE698D1FBEE}"/>
              </a:ext>
            </a:extLst>
          </p:cNvPr>
          <p:cNvSpPr/>
          <p:nvPr/>
        </p:nvSpPr>
        <p:spPr>
          <a:xfrm>
            <a:off x="445679" y="3417329"/>
            <a:ext cx="129778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1800" dirty="0"/>
          </a:p>
        </p:txBody>
      </p:sp>
      <p:sp>
        <p:nvSpPr>
          <p:cNvPr id="38" name="Shape 17">
            <a:extLst>
              <a:ext uri="{FF2B5EF4-FFF2-40B4-BE49-F238E27FC236}">
                <a16:creationId xmlns:a16="http://schemas.microsoft.com/office/drawing/2014/main" id="{A125D723-3FE4-4F07-8512-F09BE7E77978}"/>
              </a:ext>
            </a:extLst>
          </p:cNvPr>
          <p:cNvSpPr/>
          <p:nvPr/>
        </p:nvSpPr>
        <p:spPr>
          <a:xfrm>
            <a:off x="623412" y="4417632"/>
            <a:ext cx="540425" cy="22860"/>
          </a:xfrm>
          <a:prstGeom prst="roundRect">
            <a:avLst>
              <a:gd name="adj" fmla="val 283740"/>
            </a:avLst>
          </a:prstGeom>
          <a:solidFill>
            <a:srgbClr val="194A99"/>
          </a:solidFill>
          <a:ln/>
        </p:spPr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095643F0-A20C-42E5-8B2F-9F14B582110F}"/>
              </a:ext>
            </a:extLst>
          </p:cNvPr>
          <p:cNvSpPr/>
          <p:nvPr/>
        </p:nvSpPr>
        <p:spPr>
          <a:xfrm>
            <a:off x="339924" y="4343674"/>
            <a:ext cx="347424" cy="347424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40" name="Text 19">
            <a:extLst>
              <a:ext uri="{FF2B5EF4-FFF2-40B4-BE49-F238E27FC236}">
                <a16:creationId xmlns:a16="http://schemas.microsoft.com/office/drawing/2014/main" id="{7D7AF4D6-B0F7-4DE4-86A4-D99BE2735C0A}"/>
              </a:ext>
            </a:extLst>
          </p:cNvPr>
          <p:cNvSpPr/>
          <p:nvPr/>
        </p:nvSpPr>
        <p:spPr>
          <a:xfrm>
            <a:off x="438984" y="4401539"/>
            <a:ext cx="149185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</a:t>
            </a:r>
            <a:endParaRPr lang="en-US" sz="1800" dirty="0"/>
          </a:p>
        </p:txBody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ED42512A-2680-4464-9BC5-F5549B47F988}"/>
              </a:ext>
            </a:extLst>
          </p:cNvPr>
          <p:cNvSpPr/>
          <p:nvPr/>
        </p:nvSpPr>
        <p:spPr>
          <a:xfrm>
            <a:off x="684247" y="5934078"/>
            <a:ext cx="540425" cy="22860"/>
          </a:xfrm>
          <a:prstGeom prst="roundRect">
            <a:avLst>
              <a:gd name="adj" fmla="val 283740"/>
            </a:avLst>
          </a:prstGeom>
          <a:solidFill>
            <a:srgbClr val="194A99"/>
          </a:solidFill>
          <a:ln/>
        </p:spPr>
      </p:sp>
      <p:sp>
        <p:nvSpPr>
          <p:cNvPr id="42" name="Shape 23">
            <a:extLst>
              <a:ext uri="{FF2B5EF4-FFF2-40B4-BE49-F238E27FC236}">
                <a16:creationId xmlns:a16="http://schemas.microsoft.com/office/drawing/2014/main" id="{B5C28411-E8FA-40BA-98FC-0FD39B0B7C24}"/>
              </a:ext>
            </a:extLst>
          </p:cNvPr>
          <p:cNvSpPr/>
          <p:nvPr/>
        </p:nvSpPr>
        <p:spPr>
          <a:xfrm>
            <a:off x="339924" y="5731267"/>
            <a:ext cx="347424" cy="347424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43" name="Text 24">
            <a:extLst>
              <a:ext uri="{FF2B5EF4-FFF2-40B4-BE49-F238E27FC236}">
                <a16:creationId xmlns:a16="http://schemas.microsoft.com/office/drawing/2014/main" id="{D52ABAC1-E06E-4D2D-879C-7911F1FCF820}"/>
              </a:ext>
            </a:extLst>
          </p:cNvPr>
          <p:cNvSpPr/>
          <p:nvPr/>
        </p:nvSpPr>
        <p:spPr>
          <a:xfrm>
            <a:off x="444818" y="5789132"/>
            <a:ext cx="137636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5</a:t>
            </a:r>
            <a:endParaRPr lang="en-US" sz="1800" dirty="0"/>
          </a:p>
        </p:txBody>
      </p:sp>
      <p:sp>
        <p:nvSpPr>
          <p:cNvPr id="44" name="Shape 27">
            <a:extLst>
              <a:ext uri="{FF2B5EF4-FFF2-40B4-BE49-F238E27FC236}">
                <a16:creationId xmlns:a16="http://schemas.microsoft.com/office/drawing/2014/main" id="{C774E83E-8A4F-430B-B62C-45F67930ACAA}"/>
              </a:ext>
            </a:extLst>
          </p:cNvPr>
          <p:cNvSpPr/>
          <p:nvPr/>
        </p:nvSpPr>
        <p:spPr>
          <a:xfrm>
            <a:off x="684280" y="7188488"/>
            <a:ext cx="540425" cy="22860"/>
          </a:xfrm>
          <a:prstGeom prst="roundRect">
            <a:avLst>
              <a:gd name="adj" fmla="val 283740"/>
            </a:avLst>
          </a:prstGeom>
          <a:solidFill>
            <a:srgbClr val="194A99"/>
          </a:solidFill>
          <a:ln/>
        </p:spPr>
      </p:sp>
      <p:sp>
        <p:nvSpPr>
          <p:cNvPr id="45" name="Shape 28">
            <a:extLst>
              <a:ext uri="{FF2B5EF4-FFF2-40B4-BE49-F238E27FC236}">
                <a16:creationId xmlns:a16="http://schemas.microsoft.com/office/drawing/2014/main" id="{EDFC4973-461B-4EAD-BB16-4E567FDCAE1A}"/>
              </a:ext>
            </a:extLst>
          </p:cNvPr>
          <p:cNvSpPr/>
          <p:nvPr/>
        </p:nvSpPr>
        <p:spPr>
          <a:xfrm>
            <a:off x="318564" y="7073059"/>
            <a:ext cx="347424" cy="347424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46" name="Text 29">
            <a:extLst>
              <a:ext uri="{FF2B5EF4-FFF2-40B4-BE49-F238E27FC236}">
                <a16:creationId xmlns:a16="http://schemas.microsoft.com/office/drawing/2014/main" id="{84BCAF7D-002A-4230-8756-E92644688339}"/>
              </a:ext>
            </a:extLst>
          </p:cNvPr>
          <p:cNvSpPr/>
          <p:nvPr/>
        </p:nvSpPr>
        <p:spPr>
          <a:xfrm>
            <a:off x="415362" y="7130923"/>
            <a:ext cx="153829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6</a:t>
            </a:r>
            <a:endParaRPr lang="en-US" sz="1800" dirty="0"/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3A0D5958-7961-48AB-8C0E-2090CFB52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313" y="985792"/>
            <a:ext cx="8285501" cy="621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E188216-6AFD-4BF9-BCAB-760A0399EE59}"/>
              </a:ext>
            </a:extLst>
          </p:cNvPr>
          <p:cNvSpPr/>
          <p:nvPr/>
        </p:nvSpPr>
        <p:spPr>
          <a:xfrm>
            <a:off x="176462" y="229196"/>
            <a:ext cx="12240127" cy="70480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History: From Early Steps to Nowadays</a:t>
            </a:r>
          </a:p>
          <a:p>
            <a:r>
              <a:rPr lang="en-US" sz="2800" dirty="0">
                <a:solidFill>
                  <a:schemeClr val="bg1"/>
                </a:solidFill>
              </a:rPr>
              <a:t>Year	            Milestone</a:t>
            </a:r>
          </a:p>
          <a:p>
            <a:r>
              <a:rPr lang="en-US" sz="2800" dirty="0">
                <a:solidFill>
                  <a:schemeClr val="bg1"/>
                </a:solidFill>
              </a:rPr>
              <a:t>1959	            Richard Feynman introduces the concept of nanomachines in "There’s 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                     Plenty of Room at the Bottom.“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1986	            K. Eric Drexler publishes "Engines of Creation," popularizing  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                     nanorobotics.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 marL="514350" indent="-514350">
              <a:buAutoNum type="arabicPlain" startAt="2005"/>
            </a:pPr>
            <a:r>
              <a:rPr lang="en-US" sz="2800" dirty="0">
                <a:solidFill>
                  <a:schemeClr val="bg1"/>
                </a:solidFill>
              </a:rPr>
              <a:t>              First DNA-based nanorobots developed by </a:t>
            </a:r>
            <a:r>
              <a:rPr lang="en-US" sz="2800" dirty="0" err="1">
                <a:solidFill>
                  <a:schemeClr val="bg1"/>
                </a:solidFill>
              </a:rPr>
              <a:t>Nadrian</a:t>
            </a:r>
            <a:r>
              <a:rPr lang="en-US" sz="2800" dirty="0">
                <a:solidFill>
                  <a:schemeClr val="bg1"/>
                </a:solidFill>
              </a:rPr>
              <a:t> Seeman.</a:t>
            </a:r>
          </a:p>
          <a:p>
            <a:pPr marL="514350" indent="-514350">
              <a:buAutoNum type="arabicPlain" startAt="2005"/>
            </a:pPr>
            <a:endParaRPr lang="en-US" sz="2800" dirty="0">
              <a:solidFill>
                <a:schemeClr val="bg1"/>
              </a:solidFill>
            </a:endParaRPr>
          </a:p>
          <a:p>
            <a:pPr marL="514350" indent="-514350">
              <a:buAutoNum type="arabicPlain" startAt="2010"/>
            </a:pPr>
            <a:r>
              <a:rPr lang="en-US" sz="2800" dirty="0">
                <a:solidFill>
                  <a:schemeClr val="bg1"/>
                </a:solidFill>
              </a:rPr>
              <a:t>              First nanomotor for medical use demonstrated.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 marL="514350" indent="-514350">
              <a:buAutoNum type="arabicPlain" startAt="2018"/>
            </a:pPr>
            <a:r>
              <a:rPr lang="en-US" sz="2800" dirty="0">
                <a:solidFill>
                  <a:schemeClr val="bg1"/>
                </a:solidFill>
              </a:rPr>
              <a:t>              Harvard researchers create nanobots that can kill cancer cells.</a:t>
            </a:r>
          </a:p>
          <a:p>
            <a:pPr marL="514350" indent="-514350">
              <a:buAutoNum type="arabicPlain" startAt="2018"/>
            </a:pP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2022	            Nanorobots used in preclinical trials for blood clot removal.</a:t>
            </a:r>
            <a:endParaRPr lang="ru-RU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C5A2D95-E821-4C1C-B822-C8D021F715D0}"/>
              </a:ext>
            </a:extLst>
          </p:cNvPr>
          <p:cNvSpPr/>
          <p:nvPr/>
        </p:nvSpPr>
        <p:spPr>
          <a:xfrm>
            <a:off x="368968" y="630250"/>
            <a:ext cx="13748085" cy="7078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Opinions and Ethical Considerations</a:t>
            </a:r>
          </a:p>
          <a:p>
            <a:r>
              <a:rPr lang="en-US" sz="6000" dirty="0">
                <a:solidFill>
                  <a:schemeClr val="bg1"/>
                </a:solidFill>
              </a:rPr>
              <a:t>Pros:</a:t>
            </a:r>
          </a:p>
          <a:p>
            <a:r>
              <a:rPr lang="en-US" sz="2800" dirty="0">
                <a:solidFill>
                  <a:schemeClr val="bg1"/>
                </a:solidFill>
              </a:rPr>
              <a:t>✔ Precision medicine </a:t>
            </a:r>
          </a:p>
          <a:p>
            <a:r>
              <a:rPr lang="en-US" sz="2800" dirty="0">
                <a:solidFill>
                  <a:schemeClr val="bg1"/>
                </a:solidFill>
              </a:rPr>
              <a:t>(reduced side effects).</a:t>
            </a:r>
          </a:p>
          <a:p>
            <a:r>
              <a:rPr lang="en-US" sz="2800" dirty="0">
                <a:solidFill>
                  <a:schemeClr val="bg1"/>
                </a:solidFill>
              </a:rPr>
              <a:t>✔ Non-invasive surgeries.</a:t>
            </a:r>
          </a:p>
          <a:p>
            <a:r>
              <a:rPr lang="en-US" sz="2800" dirty="0">
                <a:solidFill>
                  <a:schemeClr val="bg1"/>
                </a:solidFill>
              </a:rPr>
              <a:t>✔ Environmental cleanup </a:t>
            </a:r>
          </a:p>
          <a:p>
            <a:r>
              <a:rPr lang="en-US" sz="2800" dirty="0">
                <a:solidFill>
                  <a:schemeClr val="bg1"/>
                </a:solidFill>
              </a:rPr>
              <a:t>(e.g., removing microplastics).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5400" dirty="0">
                <a:solidFill>
                  <a:schemeClr val="bg1"/>
                </a:solidFill>
              </a:rPr>
              <a:t>Cons &amp; Ethical Issues:</a:t>
            </a:r>
          </a:p>
          <a:p>
            <a:r>
              <a:rPr lang="ru-RU" sz="2800" dirty="0">
                <a:solidFill>
                  <a:schemeClr val="bg1"/>
                </a:solidFill>
              </a:rPr>
              <a:t>❌ </a:t>
            </a:r>
            <a:r>
              <a:rPr lang="en-US" sz="2800" dirty="0">
                <a:solidFill>
                  <a:schemeClr val="bg1"/>
                </a:solidFill>
              </a:rPr>
              <a:t>Potential misuse</a:t>
            </a:r>
          </a:p>
          <a:p>
            <a:r>
              <a:rPr lang="en-US" sz="2800" dirty="0">
                <a:solidFill>
                  <a:schemeClr val="bg1"/>
                </a:solidFill>
              </a:rPr>
              <a:t> (e.g., surveillance, bioweapons).</a:t>
            </a:r>
          </a:p>
          <a:p>
            <a:r>
              <a:rPr lang="ru-RU" sz="2800" dirty="0">
                <a:solidFill>
                  <a:schemeClr val="bg1"/>
                </a:solidFill>
              </a:rPr>
              <a:t>❌ </a:t>
            </a:r>
            <a:r>
              <a:rPr lang="en-US" sz="2800" dirty="0">
                <a:solidFill>
                  <a:schemeClr val="bg1"/>
                </a:solidFill>
              </a:rPr>
              <a:t>Long-term safety concerns (toxicity, immune response).</a:t>
            </a:r>
          </a:p>
          <a:p>
            <a:r>
              <a:rPr lang="ru-RU" sz="2800" dirty="0">
                <a:solidFill>
                  <a:schemeClr val="bg1"/>
                </a:solidFill>
              </a:rPr>
              <a:t>❌ </a:t>
            </a:r>
            <a:r>
              <a:rPr lang="en-US" sz="2800" dirty="0">
                <a:solidFill>
                  <a:schemeClr val="bg1"/>
                </a:solidFill>
              </a:rPr>
              <a:t>Regulation challenges (global oversight needed).</a:t>
            </a:r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B5B205CE-642C-4DA9-B888-369A06D4D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3042" y="1604604"/>
            <a:ext cx="71628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0E7B8EE-75D5-449D-82FB-C5A3A51F30B5}"/>
              </a:ext>
            </a:extLst>
          </p:cNvPr>
          <p:cNvSpPr/>
          <p:nvPr/>
        </p:nvSpPr>
        <p:spPr>
          <a:xfrm>
            <a:off x="385010" y="190143"/>
            <a:ext cx="12496801" cy="73866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Future Development and Predictions</a:t>
            </a:r>
          </a:p>
          <a:p>
            <a:r>
              <a:rPr lang="en-US" sz="6000" dirty="0">
                <a:solidFill>
                  <a:schemeClr val="bg1"/>
                </a:solidFill>
              </a:rPr>
              <a:t>By 2030: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FDA-approved nanorobots for cancer therapy.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Self-replicating nanobots for industrial use.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i="1" u="sng" dirty="0">
                <a:solidFill>
                  <a:schemeClr val="bg1"/>
                </a:solidFill>
              </a:rPr>
              <a:t>By 2050: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"Nanorobot swarms" for repairing organs.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Integration with AI for real-time diagnostics.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i="1" u="sng" dirty="0">
                <a:solidFill>
                  <a:schemeClr val="bg1"/>
                </a:solidFill>
              </a:rPr>
              <a:t>Prediction: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"Nanorobots could revolutionize medicine, making today’s surgeries seem primitive." – Ray Kurzweil, Futurist</a:t>
            </a:r>
            <a:endParaRPr lang="ru-RU" sz="2400" dirty="0">
              <a:solidFill>
                <a:schemeClr val="bg1"/>
              </a:solidFill>
            </a:endParaRPr>
          </a:p>
        </p:txBody>
      </p:sp>
      <p:pic>
        <p:nvPicPr>
          <p:cNvPr id="6147" name="Picture 3" descr="Picture background">
            <a:extLst>
              <a:ext uri="{FF2B5EF4-FFF2-40B4-BE49-F238E27FC236}">
                <a16:creationId xmlns:a16="http://schemas.microsoft.com/office/drawing/2014/main" id="{3B988208-E1BE-4814-9339-205010C50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3410" y="1432028"/>
            <a:ext cx="7239000" cy="490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19A6ADC-12CD-4880-99E3-3903C8247951}"/>
              </a:ext>
            </a:extLst>
          </p:cNvPr>
          <p:cNvSpPr/>
          <p:nvPr/>
        </p:nvSpPr>
        <p:spPr>
          <a:xfrm>
            <a:off x="368968" y="179475"/>
            <a:ext cx="5614738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Conclusion</a:t>
            </a:r>
          </a:p>
          <a:p>
            <a:endParaRPr lang="en-US" sz="60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Nanorobots represent a breakthrough in medicine and technology.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Challenges remain in safety, ethics, and mass production.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The future holds immense potential for disease eradication and advanced manufacturing.</a:t>
            </a:r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4F60C66D-A232-4EC3-BF53-DE1BA65A5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706" y="836195"/>
            <a:ext cx="8277726" cy="617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75B97B7-C858-4F61-8D64-80A00FEE7B32}"/>
              </a:ext>
            </a:extLst>
          </p:cNvPr>
          <p:cNvSpPr txBox="1"/>
          <p:nvPr/>
        </p:nvSpPr>
        <p:spPr>
          <a:xfrm>
            <a:off x="1705074" y="382286"/>
            <a:ext cx="112202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Thank you for your attention!</a:t>
            </a:r>
            <a:endParaRPr lang="ru-RU" sz="7200" dirty="0">
              <a:solidFill>
                <a:schemeClr val="bg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148BE40-6DD2-41D0-8E21-8C91564E6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296" y="1582615"/>
            <a:ext cx="9026382" cy="644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006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A146B1-88CB-459E-AAB4-1CA1702AF6B3}"/>
              </a:ext>
            </a:extLst>
          </p:cNvPr>
          <p:cNvSpPr txBox="1"/>
          <p:nvPr/>
        </p:nvSpPr>
        <p:spPr>
          <a:xfrm>
            <a:off x="208547" y="32084"/>
            <a:ext cx="281993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Sources:</a:t>
            </a:r>
            <a:endParaRPr lang="ru-RU" sz="6000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B8822CC-529B-4B68-AF60-A0FE7C93D5DA}"/>
              </a:ext>
            </a:extLst>
          </p:cNvPr>
          <p:cNvSpPr/>
          <p:nvPr/>
        </p:nvSpPr>
        <p:spPr>
          <a:xfrm>
            <a:off x="208547" y="812185"/>
            <a:ext cx="7315200" cy="729430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600" dirty="0">
                <a:solidFill>
                  <a:srgbClr val="F8FAFF"/>
                </a:solidFill>
              </a:rPr>
              <a:t>Freitas, R. A. (2005). </a:t>
            </a:r>
            <a:r>
              <a:rPr lang="en-US" sz="2600" i="1" dirty="0">
                <a:solidFill>
                  <a:srgbClr val="F8FAFF"/>
                </a:solidFill>
              </a:rPr>
              <a:t>Nanotechnology, Nanomedicine and Nanorobotics.</a:t>
            </a:r>
            <a:r>
              <a:rPr lang="en-US" sz="2600" dirty="0">
                <a:solidFill>
                  <a:srgbClr val="F8FAFF"/>
                </a:solidFill>
              </a:rPr>
              <a:t> Springer.</a:t>
            </a:r>
          </a:p>
          <a:p>
            <a:pPr>
              <a:buFont typeface="+mj-lt"/>
              <a:buAutoNum type="arabicPeriod"/>
            </a:pPr>
            <a:endParaRPr lang="en-US" sz="2600" dirty="0">
              <a:solidFill>
                <a:srgbClr val="F8FAFF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600" dirty="0">
                <a:solidFill>
                  <a:srgbClr val="F8FAFF"/>
                </a:solidFill>
              </a:rPr>
              <a:t>Douglas, S. M., et al. (2012). </a:t>
            </a:r>
            <a:r>
              <a:rPr lang="en-US" sz="2600" i="1" dirty="0">
                <a:solidFill>
                  <a:srgbClr val="F8FAFF"/>
                </a:solidFill>
              </a:rPr>
              <a:t>"A logic-gated nanorobot for targeted transport of molecular payloads."</a:t>
            </a:r>
            <a:r>
              <a:rPr lang="en-US" sz="2600" dirty="0">
                <a:solidFill>
                  <a:srgbClr val="F8FAFF"/>
                </a:solidFill>
              </a:rPr>
              <a:t> Science.</a:t>
            </a:r>
          </a:p>
          <a:p>
            <a:pPr>
              <a:buFont typeface="+mj-lt"/>
              <a:buAutoNum type="arabicPeriod"/>
            </a:pPr>
            <a:endParaRPr lang="en-US" sz="2600" dirty="0">
              <a:solidFill>
                <a:srgbClr val="F8FAFF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600" dirty="0">
                <a:solidFill>
                  <a:srgbClr val="F8FAFF"/>
                </a:solidFill>
              </a:rPr>
              <a:t>Feynman, R. (1959). </a:t>
            </a:r>
            <a:r>
              <a:rPr lang="en-US" sz="2600" i="1" dirty="0">
                <a:solidFill>
                  <a:srgbClr val="F8FAFF"/>
                </a:solidFill>
              </a:rPr>
              <a:t>"There’s Plenty of Room at the Bottom."</a:t>
            </a:r>
            <a:r>
              <a:rPr lang="en-US" sz="2600" dirty="0">
                <a:solidFill>
                  <a:srgbClr val="F8FAFF"/>
                </a:solidFill>
              </a:rPr>
              <a:t> Caltech.</a:t>
            </a:r>
          </a:p>
          <a:p>
            <a:pPr>
              <a:buFont typeface="+mj-lt"/>
              <a:buAutoNum type="arabicPeriod"/>
            </a:pPr>
            <a:endParaRPr lang="en-US" sz="2600" dirty="0">
              <a:solidFill>
                <a:srgbClr val="F8FAFF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600" dirty="0">
                <a:solidFill>
                  <a:srgbClr val="F8FAFF"/>
                </a:solidFill>
              </a:rPr>
              <a:t>Wang, J. (2013). </a:t>
            </a:r>
            <a:r>
              <a:rPr lang="en-US" sz="2600" i="1" dirty="0">
                <a:solidFill>
                  <a:srgbClr val="F8FAFF"/>
                </a:solidFill>
              </a:rPr>
              <a:t>Nanomachines: Fundamentals and Applications.</a:t>
            </a:r>
            <a:r>
              <a:rPr lang="en-US" sz="2600" dirty="0">
                <a:solidFill>
                  <a:srgbClr val="F8FAFF"/>
                </a:solidFill>
              </a:rPr>
              <a:t> Wiley.</a:t>
            </a:r>
          </a:p>
          <a:p>
            <a:pPr>
              <a:buFont typeface="+mj-lt"/>
              <a:buAutoNum type="arabicPeriod"/>
            </a:pPr>
            <a:endParaRPr lang="en-US" sz="2600" dirty="0">
              <a:solidFill>
                <a:srgbClr val="F8FAFF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600" dirty="0">
                <a:solidFill>
                  <a:srgbClr val="F8FAFF"/>
                </a:solidFill>
              </a:rPr>
              <a:t>European Commission (2021). </a:t>
            </a:r>
            <a:r>
              <a:rPr lang="en-US" sz="2600" i="1" dirty="0">
                <a:solidFill>
                  <a:srgbClr val="F8FAFF"/>
                </a:solidFill>
              </a:rPr>
              <a:t>Ethics of Nanorobotics in Healthcare.</a:t>
            </a:r>
          </a:p>
          <a:p>
            <a:pPr>
              <a:buFont typeface="+mj-lt"/>
              <a:buAutoNum type="arabicPeriod"/>
            </a:pPr>
            <a:endParaRPr lang="en-US" sz="2600" dirty="0">
              <a:solidFill>
                <a:srgbClr val="F8FAFF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600" dirty="0">
                <a:solidFill>
                  <a:srgbClr val="F8FAFF"/>
                </a:solidFill>
              </a:rPr>
              <a:t>Kurzweil, R. (2005). </a:t>
            </a:r>
            <a:r>
              <a:rPr lang="en-US" sz="2600" i="1" dirty="0">
                <a:solidFill>
                  <a:srgbClr val="F8FAFF"/>
                </a:solidFill>
              </a:rPr>
              <a:t>The Singularity is Near.</a:t>
            </a:r>
            <a:r>
              <a:rPr lang="en-US" sz="2600" dirty="0">
                <a:solidFill>
                  <a:srgbClr val="F8FAFF"/>
                </a:solidFill>
              </a:rPr>
              <a:t> Viking Press.</a:t>
            </a:r>
            <a:endParaRPr lang="en-US" sz="2600" b="0" i="0" dirty="0">
              <a:solidFill>
                <a:srgbClr val="F8FAFF"/>
              </a:solidFill>
              <a:effectLst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BC57024-C5C5-43BA-A457-21DA7165D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537" y="1389701"/>
            <a:ext cx="6050674" cy="496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30847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Space_Robots</Template>
  <TotalTime>44</TotalTime>
  <Words>480</Words>
  <Application>Microsoft Office PowerPoint</Application>
  <PresentationFormat>Произвольный</PresentationFormat>
  <Paragraphs>144</Paragraphs>
  <Slides>11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Merriweather</vt:lpstr>
      <vt:lpstr>Calibri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>PptxGenJS Presentation</dc:subject>
  <dc:creator>Evita Kud</dc:creator>
  <cp:lastModifiedBy>Evita Kud</cp:lastModifiedBy>
  <cp:revision>23</cp:revision>
  <dcterms:created xsi:type="dcterms:W3CDTF">2025-05-24T08:16:45Z</dcterms:created>
  <dcterms:modified xsi:type="dcterms:W3CDTF">2025-05-24T09:00:57Z</dcterms:modified>
</cp:coreProperties>
</file>