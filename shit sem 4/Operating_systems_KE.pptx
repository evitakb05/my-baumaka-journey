
<file path=[Content_Types].xml><?xml version="1.0" encoding="utf-8"?>
<Types xmlns="http://schemas.openxmlformats.org/package/2006/content-types">
  <Default Extension="fntdata" ContentType="application/x-fontdata"/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4"/>
  </p:notesMasterIdLst>
  <p:sldIdLst>
    <p:sldId id="266" r:id="rId2"/>
    <p:sldId id="268" r:id="rId3"/>
    <p:sldId id="256" r:id="rId4"/>
    <p:sldId id="258" r:id="rId5"/>
    <p:sldId id="257" r:id="rId6"/>
    <p:sldId id="259" r:id="rId7"/>
    <p:sldId id="260" r:id="rId8"/>
    <p:sldId id="261" r:id="rId9"/>
    <p:sldId id="262" r:id="rId10"/>
    <p:sldId id="264" r:id="rId11"/>
    <p:sldId id="267" r:id="rId12"/>
    <p:sldId id="269" r:id="rId13"/>
  </p:sldIdLst>
  <p:sldSz cx="14630400" cy="8229600"/>
  <p:notesSz cx="8229600" cy="14630400"/>
  <p:embeddedFontLst>
    <p:embeddedFont>
      <p:font typeface="Calibri" panose="020F0502020204030204" pitchFamily="34" charset="0"/>
      <p:regular r:id="rId15"/>
      <p:bold r:id="rId16"/>
      <p:italic r:id="rId17"/>
      <p:boldItalic r:id="rId18"/>
    </p:embeddedFont>
    <p:embeddedFont>
      <p:font typeface="Montserrat" panose="020B0604020202020204" charset="-52"/>
      <p:regular r:id="rId19"/>
    </p:embeddedFont>
  </p:embeddedFontLst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D0C2A"/>
    <a:srgbClr val="DCD7E5"/>
    <a:srgbClr val="31136C"/>
    <a:srgbClr val="461E64"/>
    <a:srgbClr val="681A4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>
        <p:scale>
          <a:sx n="50" d="100"/>
          <a:sy n="50" d="100"/>
        </p:scale>
        <p:origin x="1092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4.fntdata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3.fntdata"/><Relationship Id="rId2" Type="http://schemas.openxmlformats.org/officeDocument/2006/relationships/slide" Target="slides/slide1.xml"/><Relationship Id="rId16" Type="http://schemas.openxmlformats.org/officeDocument/2006/relationships/font" Target="fonts/font2.fntdata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1.fntdata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font" Target="fonts/font5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1850459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825705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D0A2C">
              <a:alpha val="7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D0A2C">
              <a:alpha val="7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D0A2C">
              <a:alpha val="7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D0A2C">
              <a:alpha val="7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D0A2C">
              <a:alpha val="7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D0A2C">
              <a:alpha val="7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D0A2C">
              <a:alpha val="7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D0A2C">
              <a:alpha val="7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D0A2C">
              <a:alpha val="7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D0A2C">
              <a:alpha val="7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gif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image" Target="../media/image13.png"/><Relationship Id="rId7" Type="http://schemas.openxmlformats.org/officeDocument/2006/relationships/image" Target="../media/image1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https://en.wikipedia.org/wiki/Operating_system" TargetMode="External"/><Relationship Id="rId2" Type="http://schemas.openxmlformats.org/officeDocument/2006/relationships/hyperlink" Target="https://www.tangolearn.com/best-operating-system-books/#operating-systems" TargetMode="Externa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D6457734-BCCA-4A7B-A18F-76CF0C80204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5296" y="538889"/>
            <a:ext cx="11249113" cy="5728561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82896" y="6833535"/>
            <a:ext cx="5740603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5550"/>
              </a:lnSpc>
              <a:buNone/>
            </a:pPr>
            <a:r>
              <a:rPr lang="en-US" sz="6000" dirty="0">
                <a:solidFill>
                  <a:schemeClr val="bg1"/>
                </a:solidFill>
              </a:rPr>
              <a:t>Operating systems</a:t>
            </a:r>
          </a:p>
        </p:txBody>
      </p:sp>
      <p:sp>
        <p:nvSpPr>
          <p:cNvPr id="7" name="Text 3"/>
          <p:cNvSpPr/>
          <p:nvPr/>
        </p:nvSpPr>
        <p:spPr>
          <a:xfrm>
            <a:off x="10758043" y="7036911"/>
            <a:ext cx="1852732" cy="3968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2800" b="1" dirty="0">
                <a:solidFill>
                  <a:srgbClr val="DCD7E5"/>
                </a:solidFill>
                <a:ea typeface="Heebo Bold" pitchFamily="34" charset="-122"/>
                <a:cs typeface="Heebo Bold" pitchFamily="34" charset="-120"/>
              </a:rPr>
              <a:t>Student group: IU5-</a:t>
            </a:r>
            <a:r>
              <a:rPr lang="ru-RU" sz="2800" b="1" dirty="0">
                <a:solidFill>
                  <a:srgbClr val="DCD7E5"/>
                </a:solidFill>
                <a:ea typeface="Heebo Bold" pitchFamily="34" charset="-122"/>
                <a:cs typeface="Heebo Bold" pitchFamily="34" charset="-120"/>
              </a:rPr>
              <a:t>4</a:t>
            </a:r>
            <a:r>
              <a:rPr lang="en-US" sz="2800" b="1" dirty="0">
                <a:solidFill>
                  <a:srgbClr val="DCD7E5"/>
                </a:solidFill>
                <a:ea typeface="Heebo Bold" pitchFamily="34" charset="-122"/>
                <a:cs typeface="Heebo Bold" pitchFamily="34" charset="-120"/>
              </a:rPr>
              <a:t>2B</a:t>
            </a:r>
          </a:p>
          <a:p>
            <a:pPr marL="0" indent="0" algn="l">
              <a:lnSpc>
                <a:spcPts val="3100"/>
              </a:lnSpc>
              <a:buNone/>
            </a:pPr>
            <a:endParaRPr lang="en-US" sz="28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8B1DAE6-CBDB-4CC5-A286-CDB3DFB153B3}"/>
              </a:ext>
            </a:extLst>
          </p:cNvPr>
          <p:cNvSpPr txBox="1"/>
          <p:nvPr/>
        </p:nvSpPr>
        <p:spPr>
          <a:xfrm>
            <a:off x="10533322" y="7508460"/>
            <a:ext cx="415490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chemeClr val="bg1"/>
                </a:solidFill>
              </a:rPr>
              <a:t>Student: </a:t>
            </a:r>
            <a:r>
              <a:rPr lang="en-US" sz="2800" dirty="0" err="1">
                <a:solidFill>
                  <a:schemeClr val="bg1"/>
                </a:solidFill>
              </a:rPr>
              <a:t>Kudabayeva</a:t>
            </a:r>
            <a:r>
              <a:rPr lang="en-US" sz="2800" dirty="0">
                <a:solidFill>
                  <a:schemeClr val="bg1"/>
                </a:solidFill>
              </a:rPr>
              <a:t> Evita</a:t>
            </a:r>
            <a:endParaRPr lang="ru-RU" sz="2800" dirty="0">
              <a:solidFill>
                <a:schemeClr val="bg1"/>
              </a:solidFill>
            </a:endParaRPr>
          </a:p>
        </p:txBody>
      </p:sp>
      <p:pic>
        <p:nvPicPr>
          <p:cNvPr id="1026" name="Picture 2" descr="Picture background">
            <a:extLst>
              <a:ext uri="{FF2B5EF4-FFF2-40B4-BE49-F238E27FC236}">
                <a16:creationId xmlns:a16="http://schemas.microsoft.com/office/drawing/2014/main" id="{FE33CE9F-AEF8-4F47-8826-CE2386B4F3A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23318" y="-821120"/>
            <a:ext cx="3937610" cy="44754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1824358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AB848974-A81C-4D26-8E90-F3F81AEFD65D}"/>
              </a:ext>
            </a:extLst>
          </p:cNvPr>
          <p:cNvSpPr/>
          <p:nvPr/>
        </p:nvSpPr>
        <p:spPr>
          <a:xfrm>
            <a:off x="301759" y="180840"/>
            <a:ext cx="3246851" cy="83407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>
              <a:lnSpc>
                <a:spcPts val="5550"/>
              </a:lnSpc>
            </a:pPr>
            <a:r>
              <a:rPr lang="en-US" sz="6000" b="1" u="sng" dirty="0">
                <a:solidFill>
                  <a:srgbClr val="F2F0F4"/>
                </a:solidFill>
              </a:rPr>
              <a:t>Contents:</a:t>
            </a:r>
            <a:endParaRPr lang="en-US" sz="6000" b="1" u="sng" dirty="0">
              <a:solidFill>
                <a:prstClr val="black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DCFE097-5F0B-4FE6-AA0A-991ED2DE2F51}"/>
              </a:ext>
            </a:extLst>
          </p:cNvPr>
          <p:cNvSpPr txBox="1"/>
          <p:nvPr/>
        </p:nvSpPr>
        <p:spPr>
          <a:xfrm>
            <a:off x="301759" y="1014914"/>
            <a:ext cx="9158764" cy="66640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3200" dirty="0">
                <a:solidFill>
                  <a:schemeClr val="bg1"/>
                </a:solidFill>
              </a:rPr>
              <a:t>- Definition of OS</a:t>
            </a: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3200" dirty="0">
                <a:solidFill>
                  <a:schemeClr val="bg1"/>
                </a:solidFill>
              </a:rPr>
              <a:t>- Structure of an OS</a:t>
            </a: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3200" dirty="0">
                <a:solidFill>
                  <a:schemeClr val="bg1"/>
                </a:solidFill>
              </a:rPr>
              <a:t>- Types of OS </a:t>
            </a: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3200" dirty="0">
                <a:solidFill>
                  <a:schemeClr val="bg1"/>
                </a:solidFill>
              </a:rPr>
              <a:t>- Functions of an OS</a:t>
            </a: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3200" dirty="0">
                <a:solidFill>
                  <a:schemeClr val="bg1"/>
                </a:solidFill>
              </a:rPr>
              <a:t>- History of OS (Key moments and breakthroughs)</a:t>
            </a: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3200" dirty="0">
                <a:solidFill>
                  <a:schemeClr val="bg1"/>
                </a:solidFill>
              </a:rPr>
              <a:t>- Advantages and Disadvantages</a:t>
            </a: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3200" dirty="0">
                <a:solidFill>
                  <a:schemeClr val="bg1"/>
                </a:solidFill>
              </a:rPr>
              <a:t>- Future development trends</a:t>
            </a: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3200" dirty="0">
                <a:solidFill>
                  <a:schemeClr val="bg1"/>
                </a:solidFill>
              </a:rPr>
              <a:t>- Conclusion</a:t>
            </a: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3200" dirty="0">
                <a:solidFill>
                  <a:schemeClr val="bg1"/>
                </a:solidFill>
              </a:rPr>
              <a:t>- Sources</a:t>
            </a:r>
            <a:endParaRPr lang="ru-RU" sz="3200" dirty="0">
              <a:solidFill>
                <a:schemeClr val="bg1"/>
              </a:solidFill>
            </a:endParaRPr>
          </a:p>
        </p:txBody>
      </p:sp>
      <p:pic>
        <p:nvPicPr>
          <p:cNvPr id="15" name="Рисунок 14">
            <a:extLst>
              <a:ext uri="{FF2B5EF4-FFF2-40B4-BE49-F238E27FC236}">
                <a16:creationId xmlns:a16="http://schemas.microsoft.com/office/drawing/2014/main" id="{94B69C60-3D5D-43F8-BE01-0E41EE586B3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04191" y="2600325"/>
            <a:ext cx="5124450" cy="4895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642543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chemeClr val="tx2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343672" y="138724"/>
            <a:ext cx="75564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5550"/>
              </a:lnSpc>
              <a:buNone/>
            </a:pPr>
            <a:r>
              <a:rPr lang="en-US" sz="6000" b="1" u="sng" dirty="0">
                <a:solidFill>
                  <a:srgbClr val="F2F0F4"/>
                </a:solidFill>
                <a:ea typeface="Montserrat" pitchFamily="34" charset="-122"/>
                <a:cs typeface="Montserrat" pitchFamily="34" charset="-120"/>
              </a:rPr>
              <a:t>Definition</a:t>
            </a:r>
            <a:endParaRPr lang="en-US" sz="6000" b="1" u="sng" dirty="0"/>
          </a:p>
        </p:txBody>
      </p:sp>
      <p:sp>
        <p:nvSpPr>
          <p:cNvPr id="4" name="Text 1"/>
          <p:cNvSpPr/>
          <p:nvPr/>
        </p:nvSpPr>
        <p:spPr>
          <a:xfrm>
            <a:off x="343674" y="1529949"/>
            <a:ext cx="4966880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850"/>
              </a:lnSpc>
            </a:pPr>
            <a:r>
              <a:rPr lang="en-US" sz="2800" b="1" i="1" u="sng" dirty="0">
                <a:solidFill>
                  <a:schemeClr val="bg1"/>
                </a:solidFill>
              </a:rPr>
              <a:t>An operating system </a:t>
            </a:r>
            <a:r>
              <a:rPr lang="en-US" sz="2800" dirty="0">
                <a:solidFill>
                  <a:schemeClr val="bg1"/>
                </a:solidFill>
              </a:rPr>
              <a:t>is system software that manages computer hardware and software resources, providing common services for computer programs. </a:t>
            </a:r>
            <a:endParaRPr lang="ru-RU" sz="2800" dirty="0">
              <a:solidFill>
                <a:schemeClr val="bg1"/>
              </a:solidFill>
            </a:endParaRPr>
          </a:p>
          <a:p>
            <a:pPr>
              <a:lnSpc>
                <a:spcPts val="2850"/>
              </a:lnSpc>
            </a:pPr>
            <a:endParaRPr lang="ru-RU" sz="2800" dirty="0">
              <a:solidFill>
                <a:schemeClr val="bg1"/>
              </a:solidFill>
            </a:endParaRP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BB1ABD19-C9B8-4902-A1E6-1603F4ED5F5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97415" y="756138"/>
            <a:ext cx="8589310" cy="6717323"/>
          </a:xfrm>
          <a:prstGeom prst="rect">
            <a:avLst/>
          </a:prstGeom>
        </p:spPr>
      </p:pic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05D3745F-D311-4AD9-9644-F9A84AD541DC}"/>
              </a:ext>
            </a:extLst>
          </p:cNvPr>
          <p:cNvSpPr/>
          <p:nvPr/>
        </p:nvSpPr>
        <p:spPr>
          <a:xfrm>
            <a:off x="248107" y="5147361"/>
            <a:ext cx="5273461" cy="15817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lnSpc>
                <a:spcPts val="2850"/>
              </a:lnSpc>
            </a:pPr>
            <a:r>
              <a:rPr lang="ru-RU" sz="2800" dirty="0">
                <a:solidFill>
                  <a:prstClr val="white"/>
                </a:solidFill>
              </a:rPr>
              <a:t>(*) </a:t>
            </a:r>
            <a:r>
              <a:rPr lang="en-US" sz="2800" dirty="0">
                <a:solidFill>
                  <a:prstClr val="white"/>
                </a:solidFill>
              </a:rPr>
              <a:t>It acts as an intermediary between users and the computer hardware, facilitating the execution of all programs. 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chemeClr val="tx2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19F054C6-604A-416E-8FDE-E9874D7B8ACF}"/>
              </a:ext>
            </a:extLst>
          </p:cNvPr>
          <p:cNvSpPr/>
          <p:nvPr/>
        </p:nvSpPr>
        <p:spPr>
          <a:xfrm>
            <a:off x="199024" y="32085"/>
            <a:ext cx="7071231" cy="77989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>
              <a:lnSpc>
                <a:spcPts val="5550"/>
              </a:lnSpc>
            </a:pPr>
            <a:r>
              <a:rPr lang="en-US" sz="4400" b="1" u="sng" dirty="0">
                <a:solidFill>
                  <a:srgbClr val="F2F0F4"/>
                </a:solidFill>
              </a:rPr>
              <a:t>Structure (Basic mechanisms)</a:t>
            </a:r>
            <a:endParaRPr lang="en-US" sz="4400" b="1" u="sng" dirty="0">
              <a:solidFill>
                <a:prstClr val="black"/>
              </a:solidFill>
            </a:endParaRPr>
          </a:p>
        </p:txBody>
      </p:sp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67DD3E79-0487-4B13-938D-91DCEE9C1A2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83493" y="1206947"/>
            <a:ext cx="4214922" cy="6258523"/>
          </a:xfrm>
          <a:prstGeom prst="rect">
            <a:avLst/>
          </a:prstGeom>
        </p:spPr>
      </p:pic>
      <p:pic>
        <p:nvPicPr>
          <p:cNvPr id="2050" name="Picture 2" descr="Picture background">
            <a:extLst>
              <a:ext uri="{FF2B5EF4-FFF2-40B4-BE49-F238E27FC236}">
                <a16:creationId xmlns:a16="http://schemas.microsoft.com/office/drawing/2014/main" id="{A18360AF-E339-4EF0-ADF9-C8791D97A2B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0207" y="1206946"/>
            <a:ext cx="8111086" cy="62585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chemeClr val="tx2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332326" y="-25674"/>
            <a:ext cx="7600712" cy="13780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5550"/>
              </a:lnSpc>
            </a:pPr>
            <a:r>
              <a:rPr lang="en-US" sz="4400" b="1" u="sng" dirty="0">
                <a:solidFill>
                  <a:schemeClr val="bg1"/>
                </a:solidFill>
              </a:rPr>
              <a:t>Types</a:t>
            </a:r>
          </a:p>
        </p:txBody>
      </p:sp>
      <p:sp>
        <p:nvSpPr>
          <p:cNvPr id="5" name="Shape 2"/>
          <p:cNvSpPr/>
          <p:nvPr/>
        </p:nvSpPr>
        <p:spPr>
          <a:xfrm rot="16200000" flipV="1">
            <a:off x="4053137" y="3441578"/>
            <a:ext cx="2440587" cy="62834"/>
          </a:xfrm>
          <a:prstGeom prst="roundRect">
            <a:avLst>
              <a:gd name="adj" fmla="val 303837"/>
            </a:avLst>
          </a:prstGeom>
          <a:solidFill>
            <a:srgbClr val="4A2C85"/>
          </a:solidFill>
          <a:ln/>
        </p:spPr>
      </p:sp>
      <p:sp>
        <p:nvSpPr>
          <p:cNvPr id="6" name="Shape 3"/>
          <p:cNvSpPr/>
          <p:nvPr/>
        </p:nvSpPr>
        <p:spPr>
          <a:xfrm>
            <a:off x="332326" y="2306270"/>
            <a:ext cx="496014" cy="496014"/>
          </a:xfrm>
          <a:prstGeom prst="roundRect">
            <a:avLst>
              <a:gd name="adj" fmla="val 18671"/>
            </a:avLst>
          </a:prstGeom>
          <a:solidFill>
            <a:srgbClr val="31136C"/>
          </a:solidFill>
          <a:ln w="7620">
            <a:solidFill>
              <a:srgbClr val="4A2C85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20564" y="2388900"/>
            <a:ext cx="119420" cy="3307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600"/>
              </a:lnSpc>
              <a:buNone/>
            </a:pPr>
            <a:r>
              <a:rPr lang="en-US" sz="2200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</a:t>
            </a:r>
            <a:endParaRPr lang="en-US" sz="2200" dirty="0"/>
          </a:p>
        </p:txBody>
      </p:sp>
      <p:sp>
        <p:nvSpPr>
          <p:cNvPr id="11" name="Shape 8"/>
          <p:cNvSpPr/>
          <p:nvPr/>
        </p:nvSpPr>
        <p:spPr>
          <a:xfrm>
            <a:off x="5364461" y="2252940"/>
            <a:ext cx="579897" cy="496014"/>
          </a:xfrm>
          <a:prstGeom prst="roundRect">
            <a:avLst>
              <a:gd name="adj" fmla="val 18671"/>
            </a:avLst>
          </a:prstGeom>
          <a:solidFill>
            <a:srgbClr val="31136C"/>
          </a:solidFill>
          <a:ln w="7620">
            <a:solidFill>
              <a:srgbClr val="4A2C85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518528" y="2335569"/>
            <a:ext cx="258214" cy="3307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600"/>
              </a:lnSpc>
              <a:buNone/>
            </a:pPr>
            <a:r>
              <a:rPr lang="en-US" sz="2200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</a:t>
            </a:r>
            <a:endParaRPr lang="en-US" sz="2200" dirty="0"/>
          </a:p>
        </p:txBody>
      </p:sp>
      <p:sp>
        <p:nvSpPr>
          <p:cNvPr id="16" name="Shape 13"/>
          <p:cNvSpPr/>
          <p:nvPr/>
        </p:nvSpPr>
        <p:spPr>
          <a:xfrm>
            <a:off x="9655624" y="2275503"/>
            <a:ext cx="538414" cy="496014"/>
          </a:xfrm>
          <a:prstGeom prst="roundRect">
            <a:avLst>
              <a:gd name="adj" fmla="val 18671"/>
            </a:avLst>
          </a:prstGeom>
          <a:solidFill>
            <a:srgbClr val="31136C"/>
          </a:solidFill>
          <a:ln w="7620">
            <a:solidFill>
              <a:srgbClr val="4A2C85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9810287" y="2358132"/>
            <a:ext cx="224218" cy="3307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600"/>
              </a:lnSpc>
              <a:buNone/>
            </a:pPr>
            <a:r>
              <a:rPr lang="en-US" sz="2200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</a:t>
            </a:r>
            <a:endParaRPr lang="en-US" sz="2200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221677EA-1300-43C0-B7F9-8EC7EE3F9849}"/>
              </a:ext>
            </a:extLst>
          </p:cNvPr>
          <p:cNvSpPr txBox="1"/>
          <p:nvPr/>
        </p:nvSpPr>
        <p:spPr>
          <a:xfrm>
            <a:off x="332326" y="886509"/>
            <a:ext cx="12322214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chemeClr val="bg1"/>
                </a:solidFill>
              </a:rPr>
              <a:t>Operating systems can be categorized based on their functionalities and applications:</a:t>
            </a:r>
          </a:p>
          <a:p>
            <a:endParaRPr lang="ru-RU" sz="3200" dirty="0">
              <a:solidFill>
                <a:schemeClr val="bg1"/>
              </a:solidFill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B69EE691-872A-40DA-B56A-1024C9F94ABA}"/>
              </a:ext>
            </a:extLst>
          </p:cNvPr>
          <p:cNvSpPr txBox="1"/>
          <p:nvPr/>
        </p:nvSpPr>
        <p:spPr>
          <a:xfrm>
            <a:off x="813037" y="2264538"/>
            <a:ext cx="4358792" cy="38164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en-US" sz="2200" b="1" dirty="0">
                <a:solidFill>
                  <a:schemeClr val="bg1"/>
                </a:solidFill>
              </a:rPr>
              <a:t>Desktop OS</a:t>
            </a:r>
          </a:p>
          <a:p>
            <a:endParaRPr lang="en-US" sz="2200" b="1" dirty="0">
              <a:solidFill>
                <a:schemeClr val="bg1"/>
              </a:solidFill>
            </a:endParaRPr>
          </a:p>
          <a:p>
            <a:r>
              <a:rPr lang="en-US" sz="2200" b="1" dirty="0">
                <a:solidFill>
                  <a:schemeClr val="bg1"/>
                </a:solidFill>
              </a:rPr>
              <a:t>Windows</a:t>
            </a:r>
            <a:r>
              <a:rPr lang="en-US" sz="2200" dirty="0">
                <a:solidFill>
                  <a:schemeClr val="bg1"/>
                </a:solidFill>
              </a:rPr>
              <a:t> – Most widely used, user-friendly.</a:t>
            </a:r>
          </a:p>
          <a:p>
            <a:r>
              <a:rPr lang="en-US" sz="2200" b="1" dirty="0">
                <a:solidFill>
                  <a:schemeClr val="bg1"/>
                </a:solidFill>
              </a:rPr>
              <a:t>macOS</a:t>
            </a:r>
            <a:r>
              <a:rPr lang="en-US" sz="2200" dirty="0">
                <a:solidFill>
                  <a:schemeClr val="bg1"/>
                </a:solidFill>
              </a:rPr>
              <a:t> – Exclusive to Apple devices, optimized for stability.</a:t>
            </a:r>
          </a:p>
          <a:p>
            <a:endParaRPr lang="en-US" sz="2200" dirty="0">
              <a:solidFill>
                <a:schemeClr val="bg1"/>
              </a:solidFill>
            </a:endParaRPr>
          </a:p>
          <a:p>
            <a:r>
              <a:rPr lang="en-US" sz="2200" b="1" dirty="0">
                <a:solidFill>
                  <a:schemeClr val="bg1"/>
                </a:solidFill>
              </a:rPr>
              <a:t>Linux</a:t>
            </a:r>
            <a:r>
              <a:rPr lang="en-US" sz="2200" dirty="0">
                <a:solidFill>
                  <a:schemeClr val="bg1"/>
                </a:solidFill>
              </a:rPr>
              <a:t> – Open-source, customizable, and used in development environments.</a:t>
            </a:r>
          </a:p>
          <a:p>
            <a:endParaRPr lang="en-US" sz="2200" dirty="0">
              <a:solidFill>
                <a:schemeClr val="bg1"/>
              </a:solidFill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2AEF810E-1059-4BF6-9531-5E87183AD6AA}"/>
              </a:ext>
            </a:extLst>
          </p:cNvPr>
          <p:cNvSpPr txBox="1"/>
          <p:nvPr/>
        </p:nvSpPr>
        <p:spPr>
          <a:xfrm>
            <a:off x="6014542" y="2252702"/>
            <a:ext cx="3393506" cy="34778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b="1" dirty="0">
                <a:solidFill>
                  <a:schemeClr val="bg1"/>
                </a:solidFill>
              </a:rPr>
              <a:t>2. Mobile OS</a:t>
            </a:r>
          </a:p>
          <a:p>
            <a:endParaRPr lang="en-US" sz="2200" b="1" dirty="0">
              <a:solidFill>
                <a:schemeClr val="bg1"/>
              </a:solidFill>
            </a:endParaRPr>
          </a:p>
          <a:p>
            <a:r>
              <a:rPr lang="en-US" sz="2200" b="1" dirty="0">
                <a:solidFill>
                  <a:schemeClr val="bg1"/>
                </a:solidFill>
              </a:rPr>
              <a:t>Android</a:t>
            </a:r>
            <a:r>
              <a:rPr lang="en-US" sz="2200" dirty="0">
                <a:solidFill>
                  <a:schemeClr val="bg1"/>
                </a:solidFill>
              </a:rPr>
              <a:t> – Open-source, used in most smartphones.</a:t>
            </a:r>
          </a:p>
          <a:p>
            <a:endParaRPr lang="en-US" sz="2200" dirty="0">
              <a:solidFill>
                <a:schemeClr val="bg1"/>
              </a:solidFill>
            </a:endParaRPr>
          </a:p>
          <a:p>
            <a:r>
              <a:rPr lang="en-US" sz="2200" b="1" dirty="0">
                <a:solidFill>
                  <a:schemeClr val="bg1"/>
                </a:solidFill>
              </a:rPr>
              <a:t>iOS</a:t>
            </a:r>
            <a:r>
              <a:rPr lang="en-US" sz="2200" dirty="0">
                <a:solidFill>
                  <a:schemeClr val="bg1"/>
                </a:solidFill>
              </a:rPr>
              <a:t> – Apple’s exclusive mobile OS, known for security.</a:t>
            </a:r>
          </a:p>
          <a:p>
            <a:endParaRPr lang="en-US" sz="2200" dirty="0">
              <a:solidFill>
                <a:schemeClr val="bg1"/>
              </a:solidFill>
            </a:endParaRPr>
          </a:p>
          <a:p>
            <a:endParaRPr lang="ru-RU" sz="2200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F75C58CB-B89A-424D-943A-57B63E182779}"/>
              </a:ext>
            </a:extLst>
          </p:cNvPr>
          <p:cNvSpPr txBox="1"/>
          <p:nvPr/>
        </p:nvSpPr>
        <p:spPr>
          <a:xfrm>
            <a:off x="10234753" y="2252940"/>
            <a:ext cx="4185855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b="1" dirty="0">
                <a:solidFill>
                  <a:schemeClr val="bg1"/>
                </a:solidFill>
              </a:rPr>
              <a:t>3. Server OS</a:t>
            </a:r>
          </a:p>
          <a:p>
            <a:endParaRPr lang="en-US" sz="2200" b="1" dirty="0">
              <a:solidFill>
                <a:schemeClr val="bg1"/>
              </a:solidFill>
            </a:endParaRPr>
          </a:p>
          <a:p>
            <a:r>
              <a:rPr lang="en-US" sz="2200" b="1" dirty="0">
                <a:solidFill>
                  <a:schemeClr val="bg1"/>
                </a:solidFill>
              </a:rPr>
              <a:t>Windows Server</a:t>
            </a:r>
            <a:r>
              <a:rPr lang="en-US" sz="2200" dirty="0">
                <a:solidFill>
                  <a:schemeClr val="bg1"/>
                </a:solidFill>
              </a:rPr>
              <a:t> – Enterprise-level networking and management.</a:t>
            </a:r>
          </a:p>
          <a:p>
            <a:endParaRPr lang="en-US" sz="2200" dirty="0">
              <a:solidFill>
                <a:schemeClr val="bg1"/>
              </a:solidFill>
            </a:endParaRPr>
          </a:p>
          <a:p>
            <a:r>
              <a:rPr lang="en-US" sz="2200" b="1" dirty="0">
                <a:solidFill>
                  <a:schemeClr val="bg1"/>
                </a:solidFill>
              </a:rPr>
              <a:t>Linux (Ubuntu, Red Hat, Debian)</a:t>
            </a:r>
            <a:r>
              <a:rPr lang="en-US" sz="2200" dirty="0">
                <a:solidFill>
                  <a:schemeClr val="bg1"/>
                </a:solidFill>
              </a:rPr>
              <a:t> – Secure, preferred for hosting services.</a:t>
            </a:r>
          </a:p>
          <a:p>
            <a:endParaRPr lang="ru-RU" sz="2200" dirty="0"/>
          </a:p>
        </p:txBody>
      </p:sp>
      <p:sp>
        <p:nvSpPr>
          <p:cNvPr id="24" name="Shape 2">
            <a:extLst>
              <a:ext uri="{FF2B5EF4-FFF2-40B4-BE49-F238E27FC236}">
                <a16:creationId xmlns:a16="http://schemas.microsoft.com/office/drawing/2014/main" id="{4498EE16-5A1C-497F-B453-3D137BD24657}"/>
              </a:ext>
            </a:extLst>
          </p:cNvPr>
          <p:cNvSpPr/>
          <p:nvPr/>
        </p:nvSpPr>
        <p:spPr>
          <a:xfrm rot="16200000" flipV="1">
            <a:off x="8285411" y="3468086"/>
            <a:ext cx="2440587" cy="54944"/>
          </a:xfrm>
          <a:prstGeom prst="roundRect">
            <a:avLst>
              <a:gd name="adj" fmla="val 303837"/>
            </a:avLst>
          </a:prstGeom>
          <a:solidFill>
            <a:srgbClr val="4A2C85"/>
          </a:solidFill>
          <a:ln/>
        </p:spPr>
      </p:sp>
      <p:pic>
        <p:nvPicPr>
          <p:cNvPr id="25" name="Рисунок 24">
            <a:extLst>
              <a:ext uri="{FF2B5EF4-FFF2-40B4-BE49-F238E27FC236}">
                <a16:creationId xmlns:a16="http://schemas.microsoft.com/office/drawing/2014/main" id="{32281477-842D-4CFD-AED7-4DBADA995FD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3037" y="5660427"/>
            <a:ext cx="3610310" cy="2285722"/>
          </a:xfrm>
          <a:prstGeom prst="rect">
            <a:avLst/>
          </a:prstGeom>
        </p:spPr>
      </p:pic>
      <p:pic>
        <p:nvPicPr>
          <p:cNvPr id="26" name="Рисунок 25">
            <a:extLst>
              <a:ext uri="{FF2B5EF4-FFF2-40B4-BE49-F238E27FC236}">
                <a16:creationId xmlns:a16="http://schemas.microsoft.com/office/drawing/2014/main" id="{79F847EC-B501-45F1-B38F-2103A783112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44882" y="5641612"/>
            <a:ext cx="3969094" cy="2285722"/>
          </a:xfrm>
          <a:prstGeom prst="rect">
            <a:avLst/>
          </a:prstGeom>
        </p:spPr>
      </p:pic>
      <p:pic>
        <p:nvPicPr>
          <p:cNvPr id="27" name="Рисунок 26">
            <a:extLst>
              <a:ext uri="{FF2B5EF4-FFF2-40B4-BE49-F238E27FC236}">
                <a16:creationId xmlns:a16="http://schemas.microsoft.com/office/drawing/2014/main" id="{4E456DB3-85CB-449F-B878-7E23F308AB4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117741" y="5606046"/>
            <a:ext cx="3699621" cy="2321288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D0C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Прямоугольник 15">
            <a:extLst>
              <a:ext uri="{FF2B5EF4-FFF2-40B4-BE49-F238E27FC236}">
                <a16:creationId xmlns:a16="http://schemas.microsoft.com/office/drawing/2014/main" id="{4B24F123-E7A0-41FD-B40D-592E33F8381D}"/>
              </a:ext>
            </a:extLst>
          </p:cNvPr>
          <p:cNvSpPr/>
          <p:nvPr/>
        </p:nvSpPr>
        <p:spPr>
          <a:xfrm>
            <a:off x="190112" y="0"/>
            <a:ext cx="2449710" cy="77989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>
              <a:lnSpc>
                <a:spcPts val="5550"/>
              </a:lnSpc>
            </a:pPr>
            <a:r>
              <a:rPr lang="en-US" sz="4400" b="1" u="sng" dirty="0">
                <a:solidFill>
                  <a:prstClr val="white"/>
                </a:solidFill>
              </a:rPr>
              <a:t>Functions</a:t>
            </a:r>
          </a:p>
        </p:txBody>
      </p:sp>
      <p:pic>
        <p:nvPicPr>
          <p:cNvPr id="17" name="Рисунок 16">
            <a:extLst>
              <a:ext uri="{FF2B5EF4-FFF2-40B4-BE49-F238E27FC236}">
                <a16:creationId xmlns:a16="http://schemas.microsoft.com/office/drawing/2014/main" id="{2303DF1B-6D4B-4647-8096-A0A6CE6F1EA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47584" y="779893"/>
            <a:ext cx="10935232" cy="7030607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D683AD44-1645-485E-AEF8-5F1544EDB45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8111" y="5153445"/>
            <a:ext cx="4510089" cy="95229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98715" y="108347"/>
            <a:ext cx="75564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lvl="0">
              <a:lnSpc>
                <a:spcPts val="5550"/>
              </a:lnSpc>
            </a:pPr>
            <a:r>
              <a:rPr lang="en-US" sz="6000" b="1" u="sng" dirty="0">
                <a:solidFill>
                  <a:prstClr val="white"/>
                </a:solidFill>
              </a:rPr>
              <a:t>History</a:t>
            </a:r>
          </a:p>
        </p:txBody>
      </p:sp>
      <p:sp>
        <p:nvSpPr>
          <p:cNvPr id="10" name="Shape 7"/>
          <p:cNvSpPr/>
          <p:nvPr/>
        </p:nvSpPr>
        <p:spPr>
          <a:xfrm>
            <a:off x="138111" y="6292462"/>
            <a:ext cx="4510089" cy="1594237"/>
          </a:xfrm>
          <a:prstGeom prst="roundRect">
            <a:avLst>
              <a:gd name="adj" fmla="val 5654"/>
            </a:avLst>
          </a:prstGeom>
          <a:solidFill>
            <a:srgbClr val="31136C"/>
          </a:solidFill>
          <a:ln w="7620">
            <a:solidFill>
              <a:srgbClr val="4A2C85"/>
            </a:solidFill>
            <a:prstDash val="solid"/>
          </a:ln>
        </p:spPr>
      </p:sp>
      <p:pic>
        <p:nvPicPr>
          <p:cNvPr id="14" name="Рисунок 13">
            <a:extLst>
              <a:ext uri="{FF2B5EF4-FFF2-40B4-BE49-F238E27FC236}">
                <a16:creationId xmlns:a16="http://schemas.microsoft.com/office/drawing/2014/main" id="{1F08E1C0-008F-446E-872B-67230108BCA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4739" y="3641535"/>
            <a:ext cx="4513461" cy="1325185"/>
          </a:xfrm>
          <a:prstGeom prst="rect">
            <a:avLst/>
          </a:prstGeom>
        </p:spPr>
      </p:pic>
      <p:pic>
        <p:nvPicPr>
          <p:cNvPr id="15" name="Рисунок 14">
            <a:extLst>
              <a:ext uri="{FF2B5EF4-FFF2-40B4-BE49-F238E27FC236}">
                <a16:creationId xmlns:a16="http://schemas.microsoft.com/office/drawing/2014/main" id="{6C36FE56-68FB-4F2C-B743-68114789807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8111" y="2267383"/>
            <a:ext cx="4510089" cy="1187428"/>
          </a:xfrm>
          <a:prstGeom prst="rect">
            <a:avLst/>
          </a:prstGeom>
        </p:spPr>
      </p:pic>
      <p:pic>
        <p:nvPicPr>
          <p:cNvPr id="16" name="Рисунок 15">
            <a:extLst>
              <a:ext uri="{FF2B5EF4-FFF2-40B4-BE49-F238E27FC236}">
                <a16:creationId xmlns:a16="http://schemas.microsoft.com/office/drawing/2014/main" id="{2F4294D2-987C-4990-A698-E80D902D5C8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605" y="1123504"/>
            <a:ext cx="4577595" cy="957155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332065" y="1178675"/>
            <a:ext cx="4316135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chemeClr val="bg1"/>
                </a:solidFill>
              </a:rPr>
              <a:t>1950s</a:t>
            </a:r>
            <a:r>
              <a:rPr lang="en-US" sz="2400" dirty="0">
                <a:solidFill>
                  <a:schemeClr val="bg1"/>
                </a:solidFill>
              </a:rPr>
              <a:t> – Early batch processing systems for large computers.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bg1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chemeClr val="bg1"/>
                </a:solidFill>
              </a:rPr>
              <a:t>1960s-1970s</a:t>
            </a:r>
            <a:r>
              <a:rPr lang="en-US" sz="2400" dirty="0">
                <a:solidFill>
                  <a:schemeClr val="bg1"/>
                </a:solidFill>
              </a:rPr>
              <a:t> – Unix developed, introducing multi-user environments.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bg1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chemeClr val="bg1"/>
                </a:solidFill>
              </a:rPr>
              <a:t>1980s</a:t>
            </a:r>
            <a:r>
              <a:rPr lang="en-US" sz="2400" dirty="0">
                <a:solidFill>
                  <a:schemeClr val="bg1"/>
                </a:solidFill>
              </a:rPr>
              <a:t> – Personal computers rise, MS-DOS and macOS emerge.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bg1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chemeClr val="bg1"/>
                </a:solidFill>
              </a:rPr>
              <a:t>1990s</a:t>
            </a:r>
            <a:r>
              <a:rPr lang="en-US" sz="2400" dirty="0">
                <a:solidFill>
                  <a:schemeClr val="bg1"/>
                </a:solidFill>
              </a:rPr>
              <a:t> – Windows dominates, Linux gains popularity.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bg1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chemeClr val="bg1"/>
                </a:solidFill>
              </a:rPr>
              <a:t>2000s-Present</a:t>
            </a:r>
            <a:r>
              <a:rPr lang="en-US" sz="2400" dirty="0">
                <a:solidFill>
                  <a:schemeClr val="bg1"/>
                </a:solidFill>
              </a:rPr>
              <a:t> – Mobile OS (Android, iOS) revolutionize computing, cloud-based systems grow.</a:t>
            </a:r>
          </a:p>
        </p:txBody>
      </p:sp>
      <p:pic>
        <p:nvPicPr>
          <p:cNvPr id="17" name="Рисунок 16">
            <a:extLst>
              <a:ext uri="{FF2B5EF4-FFF2-40B4-BE49-F238E27FC236}">
                <a16:creationId xmlns:a16="http://schemas.microsoft.com/office/drawing/2014/main" id="{85C8CBBC-7577-45E9-A5DE-CF0958D3EDB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49546" y="108348"/>
            <a:ext cx="4243265" cy="3886200"/>
          </a:xfrm>
          <a:prstGeom prst="rect">
            <a:avLst/>
          </a:prstGeom>
        </p:spPr>
      </p:pic>
      <p:pic>
        <p:nvPicPr>
          <p:cNvPr id="18" name="Рисунок 17">
            <a:extLst>
              <a:ext uri="{FF2B5EF4-FFF2-40B4-BE49-F238E27FC236}">
                <a16:creationId xmlns:a16="http://schemas.microsoft.com/office/drawing/2014/main" id="{5FAD27DB-A25F-4262-97F3-E996EA5AE61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127056" y="3892435"/>
            <a:ext cx="4365233" cy="4228818"/>
          </a:xfrm>
          <a:prstGeom prst="rect">
            <a:avLst/>
          </a:prstGeom>
        </p:spPr>
      </p:pic>
      <p:pic>
        <p:nvPicPr>
          <p:cNvPr id="19" name="Рисунок 18">
            <a:extLst>
              <a:ext uri="{FF2B5EF4-FFF2-40B4-BE49-F238E27FC236}">
                <a16:creationId xmlns:a16="http://schemas.microsoft.com/office/drawing/2014/main" id="{B59DC6B7-F863-4547-9494-2D44050EFD8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190804" y="4210483"/>
            <a:ext cx="4469130" cy="3886200"/>
          </a:xfrm>
          <a:prstGeom prst="rect">
            <a:avLst/>
          </a:prstGeom>
        </p:spPr>
      </p:pic>
      <p:pic>
        <p:nvPicPr>
          <p:cNvPr id="20" name="Рисунок 19">
            <a:extLst>
              <a:ext uri="{FF2B5EF4-FFF2-40B4-BE49-F238E27FC236}">
                <a16:creationId xmlns:a16="http://schemas.microsoft.com/office/drawing/2014/main" id="{A31BF70B-6E9E-4532-9DA1-2EBF3E8398CF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344243" y="268787"/>
            <a:ext cx="3496163" cy="3334215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D0C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" y="106216"/>
            <a:ext cx="14630400" cy="242873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069187" y="2591095"/>
            <a:ext cx="11625858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lvl="0">
              <a:lnSpc>
                <a:spcPts val="5550"/>
              </a:lnSpc>
            </a:pPr>
            <a:r>
              <a:rPr lang="en-US" sz="6000" b="1" u="sng" dirty="0">
                <a:solidFill>
                  <a:prstClr val="white"/>
                </a:solidFill>
              </a:rPr>
              <a:t>Advantages and disadvantages</a:t>
            </a:r>
          </a:p>
        </p:txBody>
      </p:sp>
      <p:sp>
        <p:nvSpPr>
          <p:cNvPr id="13" name="Shape 1">
            <a:extLst>
              <a:ext uri="{FF2B5EF4-FFF2-40B4-BE49-F238E27FC236}">
                <a16:creationId xmlns:a16="http://schemas.microsoft.com/office/drawing/2014/main" id="{16889C64-C997-440E-B1F6-D500B320084E}"/>
              </a:ext>
            </a:extLst>
          </p:cNvPr>
          <p:cNvSpPr/>
          <p:nvPr/>
        </p:nvSpPr>
        <p:spPr>
          <a:xfrm>
            <a:off x="873438" y="3439594"/>
            <a:ext cx="12821606" cy="4466156"/>
          </a:xfrm>
          <a:prstGeom prst="roundRect">
            <a:avLst>
              <a:gd name="adj" fmla="val 2850"/>
            </a:avLst>
          </a:prstGeom>
          <a:noFill/>
          <a:ln w="7620">
            <a:solidFill>
              <a:srgbClr val="FFFFFF">
                <a:alpha val="24000"/>
              </a:srgbClr>
            </a:solidFill>
            <a:prstDash val="solid"/>
          </a:ln>
        </p:spPr>
      </p:sp>
      <p:sp>
        <p:nvSpPr>
          <p:cNvPr id="14" name="Shape 2">
            <a:extLst>
              <a:ext uri="{FF2B5EF4-FFF2-40B4-BE49-F238E27FC236}">
                <a16:creationId xmlns:a16="http://schemas.microsoft.com/office/drawing/2014/main" id="{BEDB794C-9BB6-43A2-A324-9B55C3223DCC}"/>
              </a:ext>
            </a:extLst>
          </p:cNvPr>
          <p:cNvSpPr/>
          <p:nvPr/>
        </p:nvSpPr>
        <p:spPr>
          <a:xfrm>
            <a:off x="881057" y="3447214"/>
            <a:ext cx="12813987" cy="665441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  <p:txBody>
          <a:bodyPr/>
          <a:lstStyle/>
          <a:p>
            <a:endParaRPr lang="ru-RU" dirty="0"/>
          </a:p>
        </p:txBody>
      </p:sp>
      <p:sp>
        <p:nvSpPr>
          <p:cNvPr id="15" name="Text 3">
            <a:extLst>
              <a:ext uri="{FF2B5EF4-FFF2-40B4-BE49-F238E27FC236}">
                <a16:creationId xmlns:a16="http://schemas.microsoft.com/office/drawing/2014/main" id="{262DF95C-423C-4C71-8692-FDD67B9264D6}"/>
              </a:ext>
            </a:extLst>
          </p:cNvPr>
          <p:cNvSpPr/>
          <p:nvPr/>
        </p:nvSpPr>
        <p:spPr>
          <a:xfrm>
            <a:off x="2995072" y="3573261"/>
            <a:ext cx="3313152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850"/>
              </a:lnSpc>
              <a:buNone/>
            </a:pPr>
            <a:r>
              <a:rPr lang="en-US" sz="2800" dirty="0">
                <a:solidFill>
                  <a:schemeClr val="bg1"/>
                </a:solidFill>
              </a:rPr>
              <a:t>Advantages:</a:t>
            </a:r>
          </a:p>
        </p:txBody>
      </p:sp>
      <p:sp>
        <p:nvSpPr>
          <p:cNvPr id="16" name="Text 4">
            <a:extLst>
              <a:ext uri="{FF2B5EF4-FFF2-40B4-BE49-F238E27FC236}">
                <a16:creationId xmlns:a16="http://schemas.microsoft.com/office/drawing/2014/main" id="{54FA6614-18C0-4483-9A60-7170D06EB0F4}"/>
              </a:ext>
            </a:extLst>
          </p:cNvPr>
          <p:cNvSpPr/>
          <p:nvPr/>
        </p:nvSpPr>
        <p:spPr>
          <a:xfrm>
            <a:off x="9054222" y="3549369"/>
            <a:ext cx="3313152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850"/>
              </a:lnSpc>
              <a:buNone/>
            </a:pPr>
            <a:r>
              <a:rPr lang="en-US" sz="2800" dirty="0">
                <a:solidFill>
                  <a:schemeClr val="bg1"/>
                </a:solidFill>
              </a:rPr>
              <a:t>Disadvantages:</a:t>
            </a:r>
          </a:p>
        </p:txBody>
      </p:sp>
      <p:sp>
        <p:nvSpPr>
          <p:cNvPr id="17" name="Shape 5">
            <a:extLst>
              <a:ext uri="{FF2B5EF4-FFF2-40B4-BE49-F238E27FC236}">
                <a16:creationId xmlns:a16="http://schemas.microsoft.com/office/drawing/2014/main" id="{16338546-8D1F-4644-B943-8AAB956A5C55}"/>
              </a:ext>
            </a:extLst>
          </p:cNvPr>
          <p:cNvSpPr/>
          <p:nvPr/>
        </p:nvSpPr>
        <p:spPr>
          <a:xfrm>
            <a:off x="881057" y="4097533"/>
            <a:ext cx="12813987" cy="1075751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18" name="Text 6">
            <a:extLst>
              <a:ext uri="{FF2B5EF4-FFF2-40B4-BE49-F238E27FC236}">
                <a16:creationId xmlns:a16="http://schemas.microsoft.com/office/drawing/2014/main" id="{5F9F9659-0D74-4B2A-B885-07ACCAC169BF}"/>
              </a:ext>
            </a:extLst>
          </p:cNvPr>
          <p:cNvSpPr/>
          <p:nvPr/>
        </p:nvSpPr>
        <p:spPr>
          <a:xfrm>
            <a:off x="1027204" y="4040725"/>
            <a:ext cx="7011896" cy="38726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2800" dirty="0">
                <a:solidFill>
                  <a:schemeClr val="bg1"/>
                </a:solidFill>
              </a:rPr>
              <a:t>✅ Provides a user-friendly interface.</a:t>
            </a:r>
            <a:br>
              <a:rPr lang="en-US" sz="2800" dirty="0">
                <a:solidFill>
                  <a:schemeClr val="bg1"/>
                </a:solidFill>
              </a:rPr>
            </a:br>
            <a:r>
              <a:rPr lang="en-US" sz="2800" dirty="0">
                <a:solidFill>
                  <a:schemeClr val="bg1"/>
                </a:solidFill>
              </a:rPr>
              <a:t>✅ Efficient resource management.</a:t>
            </a:r>
            <a:br>
              <a:rPr lang="en-US" sz="2800" dirty="0">
                <a:solidFill>
                  <a:schemeClr val="bg1"/>
                </a:solidFill>
              </a:rPr>
            </a:br>
            <a:r>
              <a:rPr lang="en-US" sz="2800" dirty="0">
                <a:solidFill>
                  <a:schemeClr val="bg1"/>
                </a:solidFill>
              </a:rPr>
              <a:t>✅ Enhances security through access 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solidFill>
                  <a:schemeClr val="bg1"/>
                </a:solidFill>
              </a:rPr>
              <a:t>control.</a:t>
            </a:r>
            <a:br>
              <a:rPr lang="en-US" sz="2800" dirty="0">
                <a:solidFill>
                  <a:schemeClr val="bg1"/>
                </a:solidFill>
              </a:rPr>
            </a:br>
            <a:r>
              <a:rPr lang="en-US" sz="2800" dirty="0">
                <a:solidFill>
                  <a:schemeClr val="bg1"/>
                </a:solidFill>
              </a:rPr>
              <a:t>✅ Supports multitasking.</a:t>
            </a:r>
          </a:p>
        </p:txBody>
      </p:sp>
      <p:sp>
        <p:nvSpPr>
          <p:cNvPr id="19" name="Text 7">
            <a:extLst>
              <a:ext uri="{FF2B5EF4-FFF2-40B4-BE49-F238E27FC236}">
                <a16:creationId xmlns:a16="http://schemas.microsoft.com/office/drawing/2014/main" id="{6646A982-6BFB-413B-9A36-A2D3523D2D8D}"/>
              </a:ext>
            </a:extLst>
          </p:cNvPr>
          <p:cNvSpPr/>
          <p:nvPr/>
        </p:nvSpPr>
        <p:spPr>
          <a:xfrm>
            <a:off x="7239663" y="3988619"/>
            <a:ext cx="6282865" cy="27120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2800" dirty="0">
                <a:solidFill>
                  <a:schemeClr val="bg1"/>
                </a:solidFill>
              </a:rPr>
              <a:t>❌ Vulnerable to viruses and cyber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solidFill>
                  <a:schemeClr val="bg1"/>
                </a:solidFill>
              </a:rPr>
              <a:t> threats (Windows).</a:t>
            </a:r>
            <a:br>
              <a:rPr lang="en-US" sz="2800" dirty="0">
                <a:solidFill>
                  <a:schemeClr val="bg1"/>
                </a:solidFill>
              </a:rPr>
            </a:br>
            <a:r>
              <a:rPr lang="en-US" sz="2800" dirty="0">
                <a:solidFill>
                  <a:schemeClr val="bg1"/>
                </a:solidFill>
              </a:rPr>
              <a:t>❌ Some OS are expensive (macOS).</a:t>
            </a:r>
            <a:br>
              <a:rPr lang="en-US" sz="2800" dirty="0">
                <a:solidFill>
                  <a:schemeClr val="bg1"/>
                </a:solidFill>
              </a:rPr>
            </a:br>
            <a:r>
              <a:rPr lang="en-US" sz="2800" dirty="0">
                <a:solidFill>
                  <a:schemeClr val="bg1"/>
                </a:solidFill>
              </a:rPr>
              <a:t>❌ Compatibility issues between different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solidFill>
                  <a:schemeClr val="bg1"/>
                </a:solidFill>
              </a:rPr>
              <a:t> operating systems.</a:t>
            </a:r>
          </a:p>
        </p:txBody>
      </p:sp>
      <p:sp>
        <p:nvSpPr>
          <p:cNvPr id="20" name="Shape 8">
            <a:extLst>
              <a:ext uri="{FF2B5EF4-FFF2-40B4-BE49-F238E27FC236}">
                <a16:creationId xmlns:a16="http://schemas.microsoft.com/office/drawing/2014/main" id="{10B5465B-CF40-47CE-B38C-0482D671B9F0}"/>
              </a:ext>
            </a:extLst>
          </p:cNvPr>
          <p:cNvSpPr/>
          <p:nvPr/>
        </p:nvSpPr>
        <p:spPr>
          <a:xfrm>
            <a:off x="950596" y="5050286"/>
            <a:ext cx="12806366" cy="1576671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  <p:txBody>
          <a:bodyPr/>
          <a:lstStyle/>
          <a:p>
            <a:endParaRPr lang="ru-RU" dirty="0"/>
          </a:p>
        </p:txBody>
      </p:sp>
      <p:sp>
        <p:nvSpPr>
          <p:cNvPr id="21" name="Text 9">
            <a:extLst>
              <a:ext uri="{FF2B5EF4-FFF2-40B4-BE49-F238E27FC236}">
                <a16:creationId xmlns:a16="http://schemas.microsoft.com/office/drawing/2014/main" id="{593DE733-F755-4A56-8237-3A2762F1B9B6}"/>
              </a:ext>
            </a:extLst>
          </p:cNvPr>
          <p:cNvSpPr/>
          <p:nvPr/>
        </p:nvSpPr>
        <p:spPr>
          <a:xfrm>
            <a:off x="1107872" y="5173284"/>
            <a:ext cx="3313152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850"/>
              </a:lnSpc>
              <a:buNone/>
            </a:pPr>
            <a:endParaRPr lang="en-US" sz="2800" dirty="0"/>
          </a:p>
        </p:txBody>
      </p:sp>
      <p:sp>
        <p:nvSpPr>
          <p:cNvPr id="22" name="Text 10">
            <a:extLst>
              <a:ext uri="{FF2B5EF4-FFF2-40B4-BE49-F238E27FC236}">
                <a16:creationId xmlns:a16="http://schemas.microsoft.com/office/drawing/2014/main" id="{1326BFE0-0862-4C8F-AEB5-982F7F8CE9E7}"/>
              </a:ext>
            </a:extLst>
          </p:cNvPr>
          <p:cNvSpPr/>
          <p:nvPr/>
        </p:nvSpPr>
        <p:spPr>
          <a:xfrm>
            <a:off x="9789049" y="5183205"/>
            <a:ext cx="3313152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850"/>
              </a:lnSpc>
              <a:buNone/>
            </a:pPr>
            <a:endParaRPr lang="en-US" sz="2800" dirty="0"/>
          </a:p>
        </p:txBody>
      </p:sp>
      <p:sp>
        <p:nvSpPr>
          <p:cNvPr id="23" name="Shape 11">
            <a:extLst>
              <a:ext uri="{FF2B5EF4-FFF2-40B4-BE49-F238E27FC236}">
                <a16:creationId xmlns:a16="http://schemas.microsoft.com/office/drawing/2014/main" id="{3C91C11B-DF1E-4F74-B57B-65DF8CAAFC2B}"/>
              </a:ext>
            </a:extLst>
          </p:cNvPr>
          <p:cNvSpPr/>
          <p:nvPr/>
        </p:nvSpPr>
        <p:spPr>
          <a:xfrm>
            <a:off x="881058" y="5761075"/>
            <a:ext cx="7541181" cy="1013222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  <p:txBody>
          <a:bodyPr/>
          <a:lstStyle/>
          <a:p>
            <a:endParaRPr lang="ru-RU" dirty="0"/>
          </a:p>
        </p:txBody>
      </p:sp>
      <p:sp>
        <p:nvSpPr>
          <p:cNvPr id="24" name="Text 12">
            <a:extLst>
              <a:ext uri="{FF2B5EF4-FFF2-40B4-BE49-F238E27FC236}">
                <a16:creationId xmlns:a16="http://schemas.microsoft.com/office/drawing/2014/main" id="{48B51A5A-B8B2-4CA7-85A8-DD43521E6A6A}"/>
              </a:ext>
            </a:extLst>
          </p:cNvPr>
          <p:cNvSpPr/>
          <p:nvPr/>
        </p:nvSpPr>
        <p:spPr>
          <a:xfrm>
            <a:off x="1107872" y="6707695"/>
            <a:ext cx="3313152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850"/>
              </a:lnSpc>
              <a:buNone/>
            </a:pPr>
            <a:endParaRPr lang="en-US" sz="2800" dirty="0"/>
          </a:p>
        </p:txBody>
      </p:sp>
      <p:sp>
        <p:nvSpPr>
          <p:cNvPr id="25" name="Text 13">
            <a:extLst>
              <a:ext uri="{FF2B5EF4-FFF2-40B4-BE49-F238E27FC236}">
                <a16:creationId xmlns:a16="http://schemas.microsoft.com/office/drawing/2014/main" id="{AC2F8B95-7180-4D8F-BACF-6C674CC9969D}"/>
              </a:ext>
            </a:extLst>
          </p:cNvPr>
          <p:cNvSpPr/>
          <p:nvPr/>
        </p:nvSpPr>
        <p:spPr>
          <a:xfrm>
            <a:off x="9789049" y="6774297"/>
            <a:ext cx="3313152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850"/>
              </a:lnSpc>
              <a:buNone/>
            </a:pPr>
            <a:endParaRPr lang="en-US" sz="2800" dirty="0"/>
          </a:p>
        </p:txBody>
      </p:sp>
      <p:cxnSp>
        <p:nvCxnSpPr>
          <p:cNvPr id="27" name="Прямая соединительная линия 26">
            <a:extLst>
              <a:ext uri="{FF2B5EF4-FFF2-40B4-BE49-F238E27FC236}">
                <a16:creationId xmlns:a16="http://schemas.microsoft.com/office/drawing/2014/main" id="{725BBCA6-1540-4622-B0F9-12EC64585D9A}"/>
              </a:ext>
            </a:extLst>
          </p:cNvPr>
          <p:cNvCxnSpPr>
            <a:cxnSpLocks/>
          </p:cNvCxnSpPr>
          <p:nvPr/>
        </p:nvCxnSpPr>
        <p:spPr>
          <a:xfrm>
            <a:off x="6934200" y="3465044"/>
            <a:ext cx="0" cy="4436019"/>
          </a:xfrm>
          <a:prstGeom prst="line">
            <a:avLst/>
          </a:prstGeom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D0C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4983123" y="78966"/>
            <a:ext cx="7597854" cy="13804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lvl="0">
              <a:lnSpc>
                <a:spcPts val="5550"/>
              </a:lnSpc>
            </a:pPr>
            <a:r>
              <a:rPr lang="en-US" sz="5400" b="1" u="sng" dirty="0">
                <a:solidFill>
                  <a:prstClr val="white"/>
                </a:solidFill>
              </a:rPr>
              <a:t>Future development trends </a:t>
            </a:r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64072" y="1848502"/>
            <a:ext cx="1104424" cy="1157109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6259472" y="1732923"/>
            <a:ext cx="11564422" cy="10517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2800" dirty="0">
                <a:solidFill>
                  <a:srgbClr val="DCD7E5"/>
                </a:solidFill>
                <a:ea typeface="Heebo Light" pitchFamily="34" charset="-122"/>
                <a:cs typeface="Heebo Light" pitchFamily="34" charset="-120"/>
              </a:rPr>
              <a:t>🔹 </a:t>
            </a:r>
            <a:r>
              <a:rPr lang="en-US" sz="2800" b="1" u="sng" dirty="0">
                <a:solidFill>
                  <a:srgbClr val="DCD7E5"/>
                </a:solidFill>
                <a:ea typeface="Heebo Light" pitchFamily="34" charset="-122"/>
                <a:cs typeface="Heebo Light" pitchFamily="34" charset="-120"/>
              </a:rPr>
              <a:t>AI-Integrated OS </a:t>
            </a:r>
            <a:r>
              <a:rPr lang="en-US" sz="2800" dirty="0">
                <a:solidFill>
                  <a:srgbClr val="DCD7E5"/>
                </a:solidFill>
                <a:ea typeface="Heebo Light" pitchFamily="34" charset="-122"/>
                <a:cs typeface="Heebo Light" pitchFamily="34" charset="-120"/>
              </a:rPr>
              <a:t>– Smart automation, personalized 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solidFill>
                  <a:srgbClr val="DCD7E5"/>
                </a:solidFill>
                <a:ea typeface="Heebo Light" pitchFamily="34" charset="-122"/>
                <a:cs typeface="Heebo Light" pitchFamily="34" charset="-120"/>
              </a:rPr>
              <a:t>user experience.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solidFill>
                  <a:srgbClr val="DCD7E5"/>
                </a:solidFill>
                <a:ea typeface="Heebo Light" pitchFamily="34" charset="-122"/>
                <a:cs typeface="Heebo Light" pitchFamily="34" charset="-120"/>
              </a:rPr>
              <a:t>🔹 </a:t>
            </a:r>
            <a:r>
              <a:rPr lang="en-US" sz="2800" b="1" u="sng" dirty="0">
                <a:solidFill>
                  <a:srgbClr val="DCD7E5"/>
                </a:solidFill>
                <a:ea typeface="Heebo Light" pitchFamily="34" charset="-122"/>
                <a:cs typeface="Heebo Light" pitchFamily="34" charset="-120"/>
              </a:rPr>
              <a:t>Quantum Computing OS </a:t>
            </a:r>
            <a:r>
              <a:rPr lang="en-US" sz="2800" dirty="0">
                <a:solidFill>
                  <a:srgbClr val="DCD7E5"/>
                </a:solidFill>
                <a:ea typeface="Heebo Light" pitchFamily="34" charset="-122"/>
                <a:cs typeface="Heebo Light" pitchFamily="34" charset="-120"/>
              </a:rPr>
              <a:t>– Advanced computing 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solidFill>
                  <a:srgbClr val="DCD7E5"/>
                </a:solidFill>
                <a:ea typeface="Heebo Light" pitchFamily="34" charset="-122"/>
                <a:cs typeface="Heebo Light" pitchFamily="34" charset="-120"/>
              </a:rPr>
              <a:t>power management.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solidFill>
                  <a:srgbClr val="DCD7E5"/>
                </a:solidFill>
                <a:ea typeface="Heebo Light" pitchFamily="34" charset="-122"/>
                <a:cs typeface="Heebo Light" pitchFamily="34" charset="-120"/>
              </a:rPr>
              <a:t>🔹 </a:t>
            </a:r>
            <a:r>
              <a:rPr lang="en-US" sz="2800" b="1" u="sng" dirty="0">
                <a:solidFill>
                  <a:srgbClr val="DCD7E5"/>
                </a:solidFill>
                <a:ea typeface="Heebo Light" pitchFamily="34" charset="-122"/>
                <a:cs typeface="Heebo Light" pitchFamily="34" charset="-120"/>
              </a:rPr>
              <a:t>Cloud-Based OS </a:t>
            </a:r>
            <a:r>
              <a:rPr lang="en-US" sz="2800" dirty="0">
                <a:solidFill>
                  <a:srgbClr val="DCD7E5"/>
                </a:solidFill>
                <a:ea typeface="Heebo Light" pitchFamily="34" charset="-122"/>
                <a:cs typeface="Heebo Light" pitchFamily="34" charset="-120"/>
              </a:rPr>
              <a:t>– Enhanced remote access 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solidFill>
                  <a:srgbClr val="DCD7E5"/>
                </a:solidFill>
                <a:ea typeface="Heebo Light" pitchFamily="34" charset="-122"/>
                <a:cs typeface="Heebo Light" pitchFamily="34" charset="-120"/>
              </a:rPr>
              <a:t>and data storage.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solidFill>
                  <a:srgbClr val="DCD7E5"/>
                </a:solidFill>
                <a:ea typeface="Heebo Light" pitchFamily="34" charset="-122"/>
                <a:cs typeface="Heebo Light" pitchFamily="34" charset="-120"/>
              </a:rPr>
              <a:t>🔹 </a:t>
            </a:r>
            <a:r>
              <a:rPr lang="en-US" sz="2800" b="1" u="sng" dirty="0">
                <a:solidFill>
                  <a:srgbClr val="DCD7E5"/>
                </a:solidFill>
                <a:ea typeface="Heebo Light" pitchFamily="34" charset="-122"/>
                <a:cs typeface="Heebo Light" pitchFamily="34" charset="-120"/>
              </a:rPr>
              <a:t>Security Enhancements </a:t>
            </a:r>
            <a:r>
              <a:rPr lang="en-US" sz="2800" dirty="0">
                <a:solidFill>
                  <a:srgbClr val="DCD7E5"/>
                </a:solidFill>
                <a:ea typeface="Heebo Light" pitchFamily="34" charset="-122"/>
                <a:cs typeface="Heebo Light" pitchFamily="34" charset="-120"/>
              </a:rPr>
              <a:t>– More sophisticated 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solidFill>
                  <a:srgbClr val="DCD7E5"/>
                </a:solidFill>
                <a:ea typeface="Heebo Light" pitchFamily="34" charset="-122"/>
                <a:cs typeface="Heebo Light" pitchFamily="34" charset="-120"/>
              </a:rPr>
              <a:t>threat detection.</a:t>
            </a:r>
            <a:endParaRPr lang="en-US" sz="2800" dirty="0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83123" y="3204237"/>
            <a:ext cx="1104424" cy="1157109"/>
          </a:xfrm>
          <a:prstGeom prst="rect">
            <a:avLst/>
          </a:prstGeom>
        </p:spPr>
      </p:pic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64072" y="4559972"/>
            <a:ext cx="1104424" cy="1157109"/>
          </a:xfrm>
          <a:prstGeom prst="rect">
            <a:avLst/>
          </a:prstGeom>
        </p:spPr>
      </p:pic>
      <p:pic>
        <p:nvPicPr>
          <p:cNvPr id="14" name="Image 3" descr="preencoded.png">
            <a:extLst>
              <a:ext uri="{FF2B5EF4-FFF2-40B4-BE49-F238E27FC236}">
                <a16:creationId xmlns:a16="http://schemas.microsoft.com/office/drawing/2014/main" id="{0626D5AC-9AD4-4C90-91EA-EC52D4417DD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83123" y="5869481"/>
            <a:ext cx="1104424" cy="1157109"/>
          </a:xfrm>
          <a:prstGeom prst="rect">
            <a:avLst/>
          </a:prstGeom>
        </p:spPr>
      </p:pic>
      <p:sp>
        <p:nvSpPr>
          <p:cNvPr id="15" name="Овал 14">
            <a:extLst>
              <a:ext uri="{FF2B5EF4-FFF2-40B4-BE49-F238E27FC236}">
                <a16:creationId xmlns:a16="http://schemas.microsoft.com/office/drawing/2014/main" id="{8EAF659A-CBD2-4194-8097-CBEF559A265A}"/>
              </a:ext>
            </a:extLst>
          </p:cNvPr>
          <p:cNvSpPr/>
          <p:nvPr/>
        </p:nvSpPr>
        <p:spPr>
          <a:xfrm>
            <a:off x="5173384" y="6203214"/>
            <a:ext cx="685800" cy="489642"/>
          </a:xfrm>
          <a:prstGeom prst="ellipse">
            <a:avLst/>
          </a:prstGeom>
          <a:solidFill>
            <a:srgbClr val="31136C"/>
          </a:solidFill>
          <a:ln>
            <a:solidFill>
              <a:srgbClr val="31136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1446F3B-0214-435A-AF6D-83B2EB90DD29}"/>
              </a:ext>
            </a:extLst>
          </p:cNvPr>
          <p:cNvSpPr txBox="1"/>
          <p:nvPr/>
        </p:nvSpPr>
        <p:spPr>
          <a:xfrm>
            <a:off x="5344596" y="6203214"/>
            <a:ext cx="7239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rgbClr val="DCD7E5"/>
                </a:solidFill>
              </a:rPr>
              <a:t>4</a:t>
            </a:r>
            <a:endParaRPr lang="ru-RU" sz="2800" dirty="0">
              <a:solidFill>
                <a:srgbClr val="DCD7E5"/>
              </a:solidFill>
            </a:endParaRPr>
          </a:p>
        </p:txBody>
      </p:sp>
      <p:pic>
        <p:nvPicPr>
          <p:cNvPr id="17" name="Рисунок 16">
            <a:extLst>
              <a:ext uri="{FF2B5EF4-FFF2-40B4-BE49-F238E27FC236}">
                <a16:creationId xmlns:a16="http://schemas.microsoft.com/office/drawing/2014/main" id="{4691E6A0-39BA-4F9F-A4B8-34815FD0725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-110807" y="0"/>
            <a:ext cx="4913194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D0C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67717" y="95441"/>
            <a:ext cx="12599313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lvl="0">
              <a:lnSpc>
                <a:spcPts val="5550"/>
              </a:lnSpc>
            </a:pPr>
            <a:r>
              <a:rPr lang="en-US" sz="6000" b="1" u="sng" dirty="0">
                <a:solidFill>
                  <a:prstClr val="white"/>
                </a:solidFill>
              </a:rPr>
              <a:t>Conclusion</a:t>
            </a:r>
          </a:p>
        </p:txBody>
      </p:sp>
      <p:sp>
        <p:nvSpPr>
          <p:cNvPr id="3" name="Text 1"/>
          <p:cNvSpPr/>
          <p:nvPr/>
        </p:nvSpPr>
        <p:spPr>
          <a:xfrm>
            <a:off x="225221" y="1576197"/>
            <a:ext cx="3685552" cy="2508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750"/>
              </a:lnSpc>
              <a:buNone/>
            </a:pPr>
            <a:endParaRPr lang="en-US" sz="2800" u="sng" dirty="0"/>
          </a:p>
        </p:txBody>
      </p:sp>
      <p:sp>
        <p:nvSpPr>
          <p:cNvPr id="4" name="Text 2"/>
          <p:cNvSpPr/>
          <p:nvPr/>
        </p:nvSpPr>
        <p:spPr>
          <a:xfrm>
            <a:off x="409011" y="1677031"/>
            <a:ext cx="3825043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2800" b="1" i="1" u="sng" dirty="0">
                <a:solidFill>
                  <a:schemeClr val="bg1"/>
                </a:solidFill>
              </a:rPr>
              <a:t>Operating systems </a:t>
            </a:r>
            <a:r>
              <a:rPr lang="en-US" sz="2800" dirty="0">
                <a:solidFill>
                  <a:schemeClr val="bg1"/>
                </a:solidFill>
              </a:rPr>
              <a:t>are essential for managing computing resources and providing a seamless user experience. </a:t>
            </a:r>
          </a:p>
          <a:p>
            <a:endParaRPr lang="en-US" sz="2800" dirty="0">
              <a:solidFill>
                <a:schemeClr val="bg1"/>
              </a:solidFill>
            </a:endParaRPr>
          </a:p>
          <a:p>
            <a:r>
              <a:rPr lang="en-US" sz="2800" dirty="0">
                <a:solidFill>
                  <a:schemeClr val="bg1"/>
                </a:solidFill>
              </a:rPr>
              <a:t>Their evolution continues with new technologies, improving efficiency, security, and usability.</a:t>
            </a:r>
          </a:p>
        </p:txBody>
      </p:sp>
      <p:sp>
        <p:nvSpPr>
          <p:cNvPr id="5" name="Text 3"/>
          <p:cNvSpPr/>
          <p:nvPr/>
        </p:nvSpPr>
        <p:spPr>
          <a:xfrm>
            <a:off x="4764358" y="1576197"/>
            <a:ext cx="5171195" cy="50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750"/>
              </a:lnSpc>
              <a:buNone/>
            </a:pPr>
            <a:endParaRPr lang="en-US" sz="2800" u="sng" dirty="0"/>
          </a:p>
        </p:txBody>
      </p:sp>
      <p:sp>
        <p:nvSpPr>
          <p:cNvPr id="6" name="Text 4"/>
          <p:cNvSpPr/>
          <p:nvPr/>
        </p:nvSpPr>
        <p:spPr>
          <a:xfrm>
            <a:off x="4764358" y="2511671"/>
            <a:ext cx="5171195" cy="7708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850"/>
              </a:lnSpc>
              <a:buNone/>
            </a:pP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872067" y="3638550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750"/>
              </a:lnSpc>
              <a:buNone/>
            </a:pPr>
            <a:endParaRPr lang="en-US" sz="2800" u="sng" dirty="0"/>
          </a:p>
        </p:txBody>
      </p:sp>
      <p:sp>
        <p:nvSpPr>
          <p:cNvPr id="8" name="Text 6"/>
          <p:cNvSpPr/>
          <p:nvPr/>
        </p:nvSpPr>
        <p:spPr>
          <a:xfrm>
            <a:off x="9872067" y="4219694"/>
            <a:ext cx="3978116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850"/>
              </a:lnSpc>
              <a:buNone/>
            </a:pPr>
            <a:endParaRPr lang="en-US" sz="2800" dirty="0"/>
          </a:p>
        </p:txBody>
      </p:sp>
      <p:sp>
        <p:nvSpPr>
          <p:cNvPr id="9" name="Shape 1">
            <a:extLst>
              <a:ext uri="{FF2B5EF4-FFF2-40B4-BE49-F238E27FC236}">
                <a16:creationId xmlns:a16="http://schemas.microsoft.com/office/drawing/2014/main" id="{FE4FEFD9-9EAD-4DB4-9FEA-A933DA79E209}"/>
              </a:ext>
            </a:extLst>
          </p:cNvPr>
          <p:cNvSpPr/>
          <p:nvPr/>
        </p:nvSpPr>
        <p:spPr>
          <a:xfrm>
            <a:off x="225221" y="1260086"/>
            <a:ext cx="4541234" cy="5292483"/>
          </a:xfrm>
          <a:prstGeom prst="roundRect">
            <a:avLst>
              <a:gd name="adj" fmla="val 2850"/>
            </a:avLst>
          </a:prstGeom>
          <a:noFill/>
          <a:ln w="7620">
            <a:solidFill>
              <a:srgbClr val="FFFFFF">
                <a:alpha val="24000"/>
              </a:srgbClr>
            </a:solidFill>
            <a:prstDash val="solid"/>
          </a:ln>
        </p:spPr>
      </p:sp>
      <p:sp>
        <p:nvSpPr>
          <p:cNvPr id="10" name="Shape 2">
            <a:extLst>
              <a:ext uri="{FF2B5EF4-FFF2-40B4-BE49-F238E27FC236}">
                <a16:creationId xmlns:a16="http://schemas.microsoft.com/office/drawing/2014/main" id="{65BE2D62-E61E-41AB-B9E4-22455963BB1A}"/>
              </a:ext>
            </a:extLst>
          </p:cNvPr>
          <p:cNvSpPr/>
          <p:nvPr/>
        </p:nvSpPr>
        <p:spPr>
          <a:xfrm>
            <a:off x="232841" y="1267706"/>
            <a:ext cx="4541234" cy="471189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  <p:txBody>
          <a:bodyPr/>
          <a:lstStyle/>
          <a:p>
            <a:endParaRPr lang="ru-RU" dirty="0"/>
          </a:p>
        </p:txBody>
      </p:sp>
      <p:sp>
        <p:nvSpPr>
          <p:cNvPr id="11" name="Text 3">
            <a:extLst>
              <a:ext uri="{FF2B5EF4-FFF2-40B4-BE49-F238E27FC236}">
                <a16:creationId xmlns:a16="http://schemas.microsoft.com/office/drawing/2014/main" id="{DA845F75-60AC-4592-8C04-E179FE43C0E6}"/>
              </a:ext>
            </a:extLst>
          </p:cNvPr>
          <p:cNvSpPr/>
          <p:nvPr/>
        </p:nvSpPr>
        <p:spPr>
          <a:xfrm>
            <a:off x="459654" y="1411414"/>
            <a:ext cx="4306801" cy="2569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850"/>
              </a:lnSpc>
              <a:buNone/>
            </a:pPr>
            <a:endParaRPr lang="en-US" sz="2800" dirty="0"/>
          </a:p>
        </p:txBody>
      </p:sp>
      <p:sp>
        <p:nvSpPr>
          <p:cNvPr id="12" name="Text 4">
            <a:extLst>
              <a:ext uri="{FF2B5EF4-FFF2-40B4-BE49-F238E27FC236}">
                <a16:creationId xmlns:a16="http://schemas.microsoft.com/office/drawing/2014/main" id="{970CA2BE-9512-469E-A704-95C0D3939B95}"/>
              </a:ext>
            </a:extLst>
          </p:cNvPr>
          <p:cNvSpPr/>
          <p:nvPr/>
        </p:nvSpPr>
        <p:spPr>
          <a:xfrm>
            <a:off x="4234054" y="1411414"/>
            <a:ext cx="4306801" cy="2569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850"/>
              </a:lnSpc>
              <a:buNone/>
            </a:pPr>
            <a:endParaRPr lang="en-US" sz="2800" dirty="0"/>
          </a:p>
        </p:txBody>
      </p:sp>
      <p:sp>
        <p:nvSpPr>
          <p:cNvPr id="13" name="Shape 5">
            <a:extLst>
              <a:ext uri="{FF2B5EF4-FFF2-40B4-BE49-F238E27FC236}">
                <a16:creationId xmlns:a16="http://schemas.microsoft.com/office/drawing/2014/main" id="{4CE9FE0F-4EFC-487A-9760-ADD6F297F57E}"/>
              </a:ext>
            </a:extLst>
          </p:cNvPr>
          <p:cNvSpPr/>
          <p:nvPr/>
        </p:nvSpPr>
        <p:spPr>
          <a:xfrm>
            <a:off x="232841" y="1918026"/>
            <a:ext cx="4541234" cy="761724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  <p:txBody>
          <a:bodyPr/>
          <a:lstStyle/>
          <a:p>
            <a:endParaRPr lang="ru-RU" dirty="0"/>
          </a:p>
        </p:txBody>
      </p:sp>
      <p:pic>
        <p:nvPicPr>
          <p:cNvPr id="22" name="Рисунок 21">
            <a:extLst>
              <a:ext uri="{FF2B5EF4-FFF2-40B4-BE49-F238E27FC236}">
                <a16:creationId xmlns:a16="http://schemas.microsoft.com/office/drawing/2014/main" id="{7C8D0309-1D8C-4350-B669-C33715EBA4A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189159" y="707555"/>
            <a:ext cx="9085985" cy="6814489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D0C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5008E85C-EBE7-40E7-B9A1-80F1B8AF3C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4747" y="740897"/>
            <a:ext cx="13260905" cy="67478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543898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D0C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9E96E936-4E19-4814-A3FC-A12486DFB9FA}"/>
              </a:ext>
            </a:extLst>
          </p:cNvPr>
          <p:cNvSpPr/>
          <p:nvPr/>
        </p:nvSpPr>
        <p:spPr>
          <a:xfrm>
            <a:off x="228600" y="271640"/>
            <a:ext cx="7315200" cy="834074"/>
          </a:xfrm>
          <a:prstGeom prst="rect">
            <a:avLst/>
          </a:prstGeom>
        </p:spPr>
        <p:txBody>
          <a:bodyPr>
            <a:spAutoFit/>
          </a:bodyPr>
          <a:lstStyle/>
          <a:p>
            <a:pPr lvl="0">
              <a:lnSpc>
                <a:spcPts val="5550"/>
              </a:lnSpc>
            </a:pPr>
            <a:r>
              <a:rPr lang="en-US" sz="6000" b="1" u="sng" dirty="0">
                <a:solidFill>
                  <a:prstClr val="white"/>
                </a:solidFill>
              </a:rPr>
              <a:t>Sources:</a:t>
            </a:r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4729CBFD-C9E0-4782-B7C9-9C52F5599CAE}"/>
              </a:ext>
            </a:extLst>
          </p:cNvPr>
          <p:cNvSpPr/>
          <p:nvPr/>
        </p:nvSpPr>
        <p:spPr>
          <a:xfrm>
            <a:off x="225221" y="1576197"/>
            <a:ext cx="5243854" cy="2698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750"/>
              </a:lnSpc>
              <a:buNone/>
            </a:pPr>
            <a:endParaRPr lang="en-US" sz="2800" u="sng" dirty="0"/>
          </a:p>
        </p:txBody>
      </p:sp>
      <p:sp>
        <p:nvSpPr>
          <p:cNvPr id="5" name="Shape 1">
            <a:extLst>
              <a:ext uri="{FF2B5EF4-FFF2-40B4-BE49-F238E27FC236}">
                <a16:creationId xmlns:a16="http://schemas.microsoft.com/office/drawing/2014/main" id="{C914F7EC-047C-44CB-86EC-0850EE07376F}"/>
              </a:ext>
            </a:extLst>
          </p:cNvPr>
          <p:cNvSpPr/>
          <p:nvPr/>
        </p:nvSpPr>
        <p:spPr>
          <a:xfrm>
            <a:off x="225221" y="1260086"/>
            <a:ext cx="6461330" cy="5693163"/>
          </a:xfrm>
          <a:prstGeom prst="roundRect">
            <a:avLst>
              <a:gd name="adj" fmla="val 2850"/>
            </a:avLst>
          </a:prstGeom>
          <a:noFill/>
          <a:ln w="7620">
            <a:solidFill>
              <a:srgbClr val="FFFFFF">
                <a:alpha val="24000"/>
              </a:srgbClr>
            </a:solidFill>
            <a:prstDash val="solid"/>
          </a:ln>
        </p:spPr>
      </p:sp>
      <p:sp>
        <p:nvSpPr>
          <p:cNvPr id="6" name="Shape 2">
            <a:extLst>
              <a:ext uri="{FF2B5EF4-FFF2-40B4-BE49-F238E27FC236}">
                <a16:creationId xmlns:a16="http://schemas.microsoft.com/office/drawing/2014/main" id="{A3578812-D4FC-4AFA-A31A-A93C7F8B6708}"/>
              </a:ext>
            </a:extLst>
          </p:cNvPr>
          <p:cNvSpPr/>
          <p:nvPr/>
        </p:nvSpPr>
        <p:spPr>
          <a:xfrm>
            <a:off x="232841" y="1267707"/>
            <a:ext cx="6461330" cy="506862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  <p:txBody>
          <a:bodyPr/>
          <a:lstStyle/>
          <a:p>
            <a:endParaRPr lang="ru-RU" dirty="0"/>
          </a:p>
        </p:txBody>
      </p:sp>
      <p:sp>
        <p:nvSpPr>
          <p:cNvPr id="7" name="Text 3">
            <a:extLst>
              <a:ext uri="{FF2B5EF4-FFF2-40B4-BE49-F238E27FC236}">
                <a16:creationId xmlns:a16="http://schemas.microsoft.com/office/drawing/2014/main" id="{7018206E-A621-4E93-9077-5357D28644FE}"/>
              </a:ext>
            </a:extLst>
          </p:cNvPr>
          <p:cNvSpPr/>
          <p:nvPr/>
        </p:nvSpPr>
        <p:spPr>
          <a:xfrm>
            <a:off x="459654" y="1411414"/>
            <a:ext cx="6127775" cy="2764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850"/>
              </a:lnSpc>
              <a:buNone/>
            </a:pPr>
            <a:endParaRPr lang="en-US" sz="2800" dirty="0"/>
          </a:p>
        </p:txBody>
      </p:sp>
      <p:sp>
        <p:nvSpPr>
          <p:cNvPr id="8" name="Shape 5">
            <a:extLst>
              <a:ext uri="{FF2B5EF4-FFF2-40B4-BE49-F238E27FC236}">
                <a16:creationId xmlns:a16="http://schemas.microsoft.com/office/drawing/2014/main" id="{980626B4-D2BA-4FB1-8AC6-94FDF0A84EE1}"/>
              </a:ext>
            </a:extLst>
          </p:cNvPr>
          <p:cNvSpPr/>
          <p:nvPr/>
        </p:nvSpPr>
        <p:spPr>
          <a:xfrm>
            <a:off x="232841" y="1918026"/>
            <a:ext cx="6461330" cy="819392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  <p:txBody>
          <a:bodyPr/>
          <a:lstStyle/>
          <a:p>
            <a:pPr marL="514350" indent="-514350">
              <a:lnSpc>
                <a:spcPct val="150000"/>
              </a:lnSpc>
              <a:buFont typeface="+mj-lt"/>
              <a:buAutoNum type="arabicPeriod"/>
            </a:pPr>
            <a:r>
              <a:rPr lang="en-US" sz="2800" dirty="0">
                <a:solidFill>
                  <a:schemeClr val="bg1"/>
                </a:solidFill>
              </a:rPr>
              <a:t>Tanenbaum A.S. – </a:t>
            </a:r>
            <a:r>
              <a:rPr lang="en-US" sz="2800" i="1" dirty="0">
                <a:solidFill>
                  <a:schemeClr val="bg1"/>
                </a:solidFill>
              </a:rPr>
              <a:t>Modern Operating Systems;</a:t>
            </a:r>
            <a:endParaRPr lang="en-US" sz="2800" dirty="0">
              <a:solidFill>
                <a:schemeClr val="bg1"/>
              </a:solidFill>
            </a:endParaRPr>
          </a:p>
          <a:p>
            <a:pPr marL="514350" indent="-514350">
              <a:lnSpc>
                <a:spcPct val="150000"/>
              </a:lnSpc>
              <a:buFont typeface="+mj-lt"/>
              <a:buAutoNum type="arabicPeriod"/>
            </a:pPr>
            <a:r>
              <a:rPr lang="en-US" sz="2800" dirty="0">
                <a:solidFill>
                  <a:schemeClr val="bg1"/>
                </a:solidFill>
              </a:rPr>
              <a:t>Official OS documentation (Microsoft, Apple, Linux);</a:t>
            </a:r>
          </a:p>
          <a:p>
            <a:pPr marL="514350" indent="-514350">
              <a:lnSpc>
                <a:spcPct val="150000"/>
              </a:lnSpc>
              <a:buFont typeface="+mj-lt"/>
              <a:buAutoNum type="arabicPeriod"/>
            </a:pPr>
            <a:r>
              <a:rPr lang="en-US" sz="2800" u="sng" dirty="0">
                <a:solidFill>
                  <a:srgbClr val="00B0F0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Operating Systems: Three Easy Pieces</a:t>
            </a:r>
            <a:r>
              <a:rPr lang="en-US" sz="2800" u="sng" dirty="0">
                <a:solidFill>
                  <a:srgbClr val="00B0F0"/>
                </a:solidFill>
              </a:rPr>
              <a:t> </a:t>
            </a:r>
          </a:p>
          <a:p>
            <a:pPr marL="514350" indent="-514350">
              <a:lnSpc>
                <a:spcPct val="150000"/>
              </a:lnSpc>
              <a:buFont typeface="+mj-lt"/>
              <a:buAutoNum type="arabicPeriod"/>
            </a:pPr>
            <a:r>
              <a:rPr lang="en-US" sz="2800" dirty="0">
                <a:solidFill>
                  <a:srgbClr val="00B0F0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Operating system - Wikipedia</a:t>
            </a:r>
            <a:endParaRPr lang="en-US" sz="2800" u="sng" dirty="0">
              <a:solidFill>
                <a:srgbClr val="00B0F0"/>
              </a:solidFill>
            </a:endParaRPr>
          </a:p>
          <a:p>
            <a:pPr>
              <a:lnSpc>
                <a:spcPct val="150000"/>
              </a:lnSpc>
            </a:pPr>
            <a:endParaRPr lang="en-US" sz="2800" dirty="0">
              <a:solidFill>
                <a:schemeClr val="bg1"/>
              </a:solidFill>
            </a:endParaRPr>
          </a:p>
        </p:txBody>
      </p:sp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CCEB9F0D-680D-4E4E-92C2-0D9E340EF4B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13364" y="440488"/>
            <a:ext cx="7523025" cy="71604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827585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141</TotalTime>
  <Words>401</Words>
  <Application>Microsoft Office PowerPoint</Application>
  <PresentationFormat>Произвольный</PresentationFormat>
  <Paragraphs>85</Paragraphs>
  <Slides>12</Slides>
  <Notes>9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12</vt:i4>
      </vt:variant>
    </vt:vector>
  </HeadingPairs>
  <TitlesOfParts>
    <vt:vector size="17" baseType="lpstr">
      <vt:lpstr>Montserrat</vt:lpstr>
      <vt:lpstr>Calibri</vt:lpstr>
      <vt:lpstr>Arial</vt:lpstr>
      <vt:lpstr>Wingdings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Evita Kud</cp:lastModifiedBy>
  <cp:revision>42</cp:revision>
  <dcterms:created xsi:type="dcterms:W3CDTF">2024-10-18T20:40:08Z</dcterms:created>
  <dcterms:modified xsi:type="dcterms:W3CDTF">2025-03-21T21:39:39Z</dcterms:modified>
</cp:coreProperties>
</file>